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jFTgjbhTocbyQEn0IMRxpnrs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d81901e6f_2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ed81901e6f_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d81901e6f_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11" Type="http://schemas.openxmlformats.org/officeDocument/2006/relationships/image" Target="../media/image23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26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1960898" y="2237908"/>
            <a:ext cx="6287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de Software 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39206" y="3642221"/>
            <a:ext cx="51897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Gonzalo Anabalón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Alex Arancibia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Pablo Martínez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Oregón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Martín Sáez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Benjamín Velásquez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Yelpi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77590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41" y="5858386"/>
            <a:ext cx="10695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09/06/2026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763772" y="2836642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ATI Termic SPA Climatización Industrial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30% del sistema ERP | Incremento I | Grupo 5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472023" y="5139036"/>
            <a:ext cx="368599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08721" y="133062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 de la presentación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3192" y="11978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1353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960120" y="12893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399032" y="12893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Propuesta de Solución e Incremento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93192" y="21122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960120" y="22037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399032" y="22037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Product Backlog – Pila del Producto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93192" y="30266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1821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>
            <a:off x="960120" y="31181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399032" y="31181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Sprint Backlog – Casos de Uso Destacados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93192" y="39410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4096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960120" y="40325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399032" y="40325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Vistas 4+1 – Arquitectura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721512" y="1192439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8672" y="134788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>
            <a:off x="5288440" y="1283879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200">
                <a:solidFill>
                  <a:srgbClr val="FFB300"/>
                </a:solidFill>
              </a:rPr>
              <a:t>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727352" y="1283879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Pruebas Unitarias y Evidencias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721512" y="2112327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8672" y="226777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288440" y="2203767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200">
                <a:solidFill>
                  <a:srgbClr val="FFB300"/>
                </a:solidFill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727352" y="2203767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Demo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1266" y="5002955"/>
            <a:ext cx="4641467" cy="163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08722" y="137851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Propuesta de solución e incremento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-28026" y="1376393"/>
            <a:ext cx="91720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ERP web para ATI Termic SpA — Centraliza gestión de obras, compras, RRHH, finanzas y documentación. Stack: React.js + Node.js + Express + MySQL + JWT.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108722" y="2468880"/>
            <a:ext cx="8926556" cy="2834640"/>
            <a:chOff x="274320" y="2468880"/>
            <a:chExt cx="8595360" cy="2834640"/>
          </a:xfrm>
        </p:grpSpPr>
        <p:sp>
          <p:nvSpPr>
            <p:cNvPr id="142" name="Google Shape;142;p3"/>
            <p:cNvSpPr/>
            <p:nvPr/>
          </p:nvSpPr>
          <p:spPr>
            <a:xfrm>
              <a:off x="27432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FFB300"/>
            </a:solidFill>
            <a:ln cap="flat" cmpd="sng" w="12700">
              <a:solidFill>
                <a:srgbClr val="FFB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4320" y="262890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INC 1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320" y="304038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30%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65760" y="368046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Seguridad, Obras,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Compras, Finanzas,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Documentación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4320" y="477774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Junio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46888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46888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2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6888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70%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56032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RRHH, Catálogo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SKU, Solicitudes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Materiales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46888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Agosto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66344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66344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3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66344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95%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75488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Finanzas Gerencial,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Mano de Obra,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Portafolio Web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66344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Oct.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685800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85800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4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85800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94944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Cierre Técnico,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Certificados,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685800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Nov.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74320" y="4503420"/>
              <a:ext cx="2011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◄ ACTUAL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backlog – pila de producto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86632" y="1478324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92" y="1549157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773210" y="1681454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30310" y="2072685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556290" y="1506723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4888" y="1555996"/>
            <a:ext cx="366578" cy="36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2899190" y="1693823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138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583836" y="2077098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Estimadas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7259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9560" y="1609105"/>
            <a:ext cx="378212" cy="378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5217251" y="1738862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819430" y="2113251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Total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154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6396" y="1573563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/>
          <p:nvPr/>
        </p:nvSpPr>
        <p:spPr>
          <a:xfrm>
            <a:off x="7258348" y="1686607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942994" y="2081762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08440" y="379299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508440" y="3792993"/>
            <a:ext cx="73152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645600" y="379299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Gestión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14, 15, 16, 17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32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08440" y="429591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508440" y="4295913"/>
            <a:ext cx="73152" cy="45720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645600" y="429591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Compras y Finanzas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35, 37, 39, 41, 42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48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08440" y="479883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508440" y="4798833"/>
            <a:ext cx="73152" cy="457200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645600" y="479883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Gestión Documental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44, 45, 47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20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08440" y="530175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08440" y="5301753"/>
            <a:ext cx="73152" cy="4572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645600" y="530175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Control Ppto. y Riesgos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54, 55, 56, 57, 58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38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16: Cargando Evidencias Fotográficas de Avance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GPS + cámara móvil + compresión automática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Supervisor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Web Geolocation API + Multer + React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Diaria — durante jornadas de terreno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Permiso denegado: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Sistema informa y sugiere habilitar permisos en el dispositivo.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Fallo de carga: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Sistema guarda la foto en cola para cuando haya señal.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Imágenes almacenadas en la galería del proyecto vinculadas al reporte, con geolocalización y timestamp verificados.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accede a “Carga de evidencia” en Proyecto 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Sistema solicita permisos de cámara al dispositivo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Actor captura fotográfía desde la interfaz móvil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muestra vista previa para confirmación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Sistema comprime imagen y la almacena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Sistema asocial fotos a coordenadas GPS y fecha actual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Confirmación: “Evidencia cargada con éxito”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09032" y="4643025"/>
            <a:ext cx="3206991" cy="21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108721" y="89553"/>
            <a:ext cx="78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16: Diagrama De Secuencia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7" name="Google Shape;27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50" y="886900"/>
            <a:ext cx="8984227" cy="60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7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Cargas Evidencia Fotográficas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025" y="904300"/>
            <a:ext cx="12534100" cy="59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8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8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41: Graficando Desviación de costos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74320" y="1143000"/>
            <a:ext cx="4023360" cy="685800"/>
          </a:xfrm>
          <a:prstGeom prst="roundRect">
            <a:avLst>
              <a:gd fmla="val 13333" name="adj"/>
            </a:avLst>
          </a:prstGeom>
          <a:solidFill>
            <a:srgbClr val="E3F2FD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252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96012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960120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BI visual: cruza presupuesto planificado vs gastos reales en tiempo real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74370" y="2073391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274320" y="246430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65760" y="246430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accede a Finanzas → Control de Costos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74320" y="283006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365760" y="283006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Selecciona proyecto y período de análisis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74320" y="319582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65760" y="319582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Sistema suma gastos reales (facturas + personal)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74320" y="356158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65760" y="356158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calcula varianza financiera automáticamente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274320" y="392734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365760" y="392734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Genera curvas de costo en gráfico comparativo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74320" y="4293101"/>
            <a:ext cx="4023300" cy="329100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365760" y="4293101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Muestra alertas si desviación negativa &gt; umbral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4526280" y="1143000"/>
            <a:ext cx="4343400" cy="1161288"/>
          </a:xfrm>
          <a:prstGeom prst="roundRect">
            <a:avLst>
              <a:gd fmla="val 6667" name="adj"/>
            </a:avLst>
          </a:prstGeom>
          <a:solidFill>
            <a:srgbClr val="0D1B2A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4663440" y="12070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663440" y="1325023"/>
            <a:ext cx="4114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Administrador Total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UR-F-45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Recharts / Chart.js + Express + MySQL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 demanda — seguimiento financiero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526280" y="2428473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GRÁFICO DE DESVIACIÓN (REFERENCIA)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663440" y="2914167"/>
            <a:ext cx="640200" cy="65850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349240" y="3023895"/>
            <a:ext cx="640080" cy="5486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461772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6217920" y="2914167"/>
            <a:ext cx="640080" cy="658368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6903720" y="2804439"/>
            <a:ext cx="640080" cy="768096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617220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772400" y="2914167"/>
            <a:ext cx="640080" cy="658368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8458200" y="2694711"/>
            <a:ext cx="640080" cy="877824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772668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663440" y="3773703"/>
            <a:ext cx="201168" cy="13716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892040" y="3773703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Planificado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126480" y="3773703"/>
            <a:ext cx="201168" cy="13716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6355080" y="3773703"/>
            <a:ext cx="11887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Real (excede)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635240" y="3773703"/>
            <a:ext cx="201168" cy="13716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7863840" y="3773703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Real (ok)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526280" y="4029735"/>
            <a:ext cx="4343400" cy="384048"/>
          </a:xfrm>
          <a:prstGeom prst="roundRect">
            <a:avLst>
              <a:gd fmla="val 14286" name="adj"/>
            </a:avLst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4617720" y="4075455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POSTCONDICIÓN: Reporte visual con indicadores de desviación</a:t>
            </a:r>
            <a:r>
              <a:rPr lang="en-US" sz="950">
                <a:solidFill>
                  <a:srgbClr val="1B5E20"/>
                </a:solidFill>
              </a:rPr>
              <a:t>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274320" y="482803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2050" y="4452750"/>
            <a:ext cx="3520424" cy="2460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9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025" y="802875"/>
            <a:ext cx="9143999" cy="639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9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41: Diagrama de secuencia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0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Desviación de Costos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3" name="Google Shape;353;p10"/>
          <p:cNvPicPr preferRelativeResize="0"/>
          <p:nvPr/>
        </p:nvPicPr>
        <p:blipFill rotWithShape="1">
          <a:blip r:embed="rId5">
            <a:alphaModFix/>
          </a:blip>
          <a:srcRect b="0" l="0" r="21685" t="0"/>
          <a:stretch/>
        </p:blipFill>
        <p:spPr>
          <a:xfrm>
            <a:off x="-14025" y="1073575"/>
            <a:ext cx="9172050" cy="55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1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 txBox="1"/>
          <p:nvPr/>
        </p:nvSpPr>
        <p:spPr>
          <a:xfrm>
            <a:off x="108722" y="158734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Vistas Arquitectónicas 4+1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4188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42" y="1889321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1"/>
          <p:cNvSpPr/>
          <p:nvPr/>
        </p:nvSpPr>
        <p:spPr>
          <a:xfrm>
            <a:off x="341884" y="216821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Lógica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4188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Modelo BD MySQL (3FN)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22224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8820" y="1911223"/>
            <a:ext cx="333248" cy="33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1"/>
          <p:cNvSpPr/>
          <p:nvPr/>
        </p:nvSpPr>
        <p:spPr>
          <a:xfrm>
            <a:off x="3222244" y="21676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 Proceso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322224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17 Diagramas de secuencia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(uno por CU)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10260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2896" y="1871033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/>
          <p:nvPr/>
        </p:nvSpPr>
        <p:spPr>
          <a:xfrm>
            <a:off x="6102604" y="214535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10260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React + Node + 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654578" y="3981606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4650" y="4084741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1"/>
          <p:cNvSpPr/>
          <p:nvPr/>
        </p:nvSpPr>
        <p:spPr>
          <a:xfrm>
            <a:off x="1654578" y="4210726"/>
            <a:ext cx="2606040" cy="59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Física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1674650" y="4621686"/>
            <a:ext cx="25859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VPS + Nginx + Ubuntu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964176" y="4007592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9023" y="4053323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4964176" y="436950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Externa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991608" y="4692449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Casos de Uso extendidos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(17 CU del incremento)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/>
        </p:nvSpPr>
        <p:spPr>
          <a:xfrm>
            <a:off x="108721" y="15870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Pruebas del sistema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90" name="Google Shape;390;p13"/>
          <p:cNvGrpSpPr/>
          <p:nvPr/>
        </p:nvGrpSpPr>
        <p:grpSpPr>
          <a:xfrm>
            <a:off x="108721" y="1133856"/>
            <a:ext cx="4280399" cy="5504688"/>
            <a:chOff x="274320" y="1417320"/>
            <a:chExt cx="4114800" cy="3474720"/>
          </a:xfrm>
        </p:grpSpPr>
        <p:sp>
          <p:nvSpPr>
            <p:cNvPr id="391" name="Google Shape;391;p13"/>
            <p:cNvSpPr/>
            <p:nvPr/>
          </p:nvSpPr>
          <p:spPr>
            <a:xfrm>
              <a:off x="274320" y="1417320"/>
              <a:ext cx="4114800" cy="347472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288D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0288D1"/>
                  </a:solidFill>
                  <a:latin typeface="Arial"/>
                  <a:ea typeface="Arial"/>
                  <a:cs typeface="Arial"/>
                  <a:sym typeface="Arial"/>
                </a:rPr>
                <a:t>ESTRUCTURA DE CADA PRUEBA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365760" y="1920240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457200" y="192024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ID Prueba: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1920240" y="192024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PT-XX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365760" y="2340864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457200" y="234086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Asociado: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1920240" y="234086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CU XX: Nombre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365760" y="2761488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57200" y="2761488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Datos de Entrada: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1920240" y="2761488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Valores ingresados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365760" y="3182112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57200" y="3182112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Esperado: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1920240" y="3182112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Comportamiento esperado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365760" y="3602736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57200" y="3602736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Obtenido: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920240" y="3602736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Respuesta real del sistema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65760" y="4023360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57200" y="402336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Estado: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920240" y="402336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APROBADA / RECHAZADA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65760" y="4443984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57200" y="444398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Evidencia: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1920240" y="444398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Captura de pantalla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13"/>
          <p:cNvGrpSpPr/>
          <p:nvPr/>
        </p:nvGrpSpPr>
        <p:grpSpPr>
          <a:xfrm>
            <a:off x="4557668" y="1133856"/>
            <a:ext cx="4477610" cy="5504688"/>
            <a:chOff x="4561308" y="1417320"/>
            <a:chExt cx="4206240" cy="3749040"/>
          </a:xfrm>
        </p:grpSpPr>
        <p:sp>
          <p:nvSpPr>
            <p:cNvPr id="415" name="Google Shape;415;p13"/>
            <p:cNvSpPr/>
            <p:nvPr/>
          </p:nvSpPr>
          <p:spPr>
            <a:xfrm>
              <a:off x="4617720" y="1417320"/>
              <a:ext cx="4114800" cy="374904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561308" y="1417320"/>
              <a:ext cx="4206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PRIORITARIOS EN PRUEBAS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" name="Google Shape;417;p13"/>
            <p:cNvGrpSpPr/>
            <p:nvPr/>
          </p:nvGrpSpPr>
          <p:grpSpPr>
            <a:xfrm>
              <a:off x="4663440" y="1828800"/>
              <a:ext cx="3959352" cy="3200400"/>
              <a:chOff x="4663440" y="1828800"/>
              <a:chExt cx="4206240" cy="3200400"/>
            </a:xfrm>
          </p:grpSpPr>
          <p:sp>
            <p:nvSpPr>
              <p:cNvPr id="418" name="Google Shape;418;p13"/>
              <p:cNvSpPr/>
              <p:nvPr/>
            </p:nvSpPr>
            <p:spPr>
              <a:xfrm>
                <a:off x="4663440" y="1828800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4754880" y="1828800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16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5440680" y="1874520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Carga de evidencias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5440680" y="2130552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GPS + cámara móvil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3"/>
              <p:cNvSpPr/>
              <p:nvPr/>
            </p:nvSpPr>
            <p:spPr>
              <a:xfrm>
                <a:off x="4663440" y="2487168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3"/>
              <p:cNvSpPr/>
              <p:nvPr/>
            </p:nvSpPr>
            <p:spPr>
              <a:xfrm>
                <a:off x="4754880" y="2487168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41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5440680" y="2532888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Gráfico desviación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5440680" y="2788920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Cálculo financiero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4663440" y="3145536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4754880" y="3145536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35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3"/>
              <p:cNvSpPr/>
              <p:nvPr/>
            </p:nvSpPr>
            <p:spPr>
              <a:xfrm>
                <a:off x="5440680" y="3191256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Orden de Compra auto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3"/>
              <p:cNvSpPr/>
              <p:nvPr/>
            </p:nvSpPr>
            <p:spPr>
              <a:xfrm>
                <a:off x="5440680" y="3447288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Flujo transaccional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3"/>
              <p:cNvSpPr/>
              <p:nvPr/>
            </p:nvSpPr>
            <p:spPr>
              <a:xfrm>
                <a:off x="4663440" y="3803904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4754880" y="3803904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57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5440680" y="3849624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Incidentes SSO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5440680" y="4105656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Seguridad ocupacional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4663440" y="4462272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4754880" y="4462272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54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5440680" y="4507992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 cambios ppto.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5440680" y="4764024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Trazabilidad log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1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029969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/>
          <p:nvPr/>
        </p:nvSpPr>
        <p:spPr>
          <a:xfrm>
            <a:off x="446051" y="358502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PRIMER INCREMENTO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57200" y="40632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COMPLETADO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46051" y="4770023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i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Casos de Uso  ·  138 HH  ·  4 Módulos  ·  Sistema ERP ATI Termic SpA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ed81901e6f_2_15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ed81901e6f_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ed81901e6f_2_15"/>
          <p:cNvSpPr/>
          <p:nvPr/>
        </p:nvSpPr>
        <p:spPr>
          <a:xfrm>
            <a:off x="457200" y="16676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A continuación…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¡Presentación DEMO!</a:t>
            </a:r>
            <a:endParaRPr b="1" sz="4000">
              <a:solidFill>
                <a:schemeClr val="dk1"/>
              </a:solidFill>
            </a:endParaRPr>
          </a:p>
        </p:txBody>
      </p:sp>
      <p:pic>
        <p:nvPicPr>
          <p:cNvPr id="457" name="Google Shape;457;g3ed81901e6f_2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550" y="2883528"/>
            <a:ext cx="8612901" cy="3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