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UNy1ad7xdxb/i55qaIBFKAvtb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d81901e6f_2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ed81901e6f_2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g3ed81901e6f_2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11" Type="http://schemas.openxmlformats.org/officeDocument/2006/relationships/image" Target="../media/image6.png"/><Relationship Id="rId10" Type="http://schemas.openxmlformats.org/officeDocument/2006/relationships/image" Target="../media/image27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8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1960898" y="2237908"/>
            <a:ext cx="62875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de Software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39206" y="3642221"/>
            <a:ext cx="51897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Gonzalo Anabalón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Alex Arancibia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Pablo Martínez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Oregón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Martín Sáez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Benjamín Velásquez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Yelpi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0" y="0"/>
            <a:ext cx="9158013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77590"/>
            <a:ext cx="9172027" cy="137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763772" y="2836642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ATI Termic SPA Climatización Industrial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95% del sistema ERP | Incremento III | Grupo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472023" y="5139036"/>
            <a:ext cx="368599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Paulo Quinsacara Jofré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46950" y="5837500"/>
            <a:ext cx="1096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02-10-2026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08721" y="133062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 de la presentación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93192" y="11978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1353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960120" y="12893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399032" y="12893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Propuesta de Solución e Incremento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93192" y="21122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960120" y="22037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399032" y="22037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Product Backlog – Pila del Producto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93192" y="30266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" name="Google Shape;11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1821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/>
          <p:nvPr/>
        </p:nvSpPr>
        <p:spPr>
          <a:xfrm>
            <a:off x="960120" y="31181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399032" y="31181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Sprint Backlog – Casos de Uso Destacados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93192" y="39410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0" name="Google Shape;12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40965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/>
          <p:nvPr/>
        </p:nvSpPr>
        <p:spPr>
          <a:xfrm>
            <a:off x="960120" y="40325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399032" y="40325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Vistas 4+1 – Arquitectura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721512" y="1192439"/>
            <a:ext cx="4114800" cy="7131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4" name="Google Shape;12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8672" y="134788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/>
          <p:nvPr/>
        </p:nvSpPr>
        <p:spPr>
          <a:xfrm>
            <a:off x="5288440" y="1283879"/>
            <a:ext cx="41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727352" y="1283879"/>
            <a:ext cx="292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Pruebas Unitarias y Evidencias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721512" y="2112327"/>
            <a:ext cx="4114800" cy="7131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8" name="Google Shape;12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58672" y="226777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5288440" y="2203767"/>
            <a:ext cx="41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727352" y="2203767"/>
            <a:ext cx="292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Demo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1266" y="5002955"/>
            <a:ext cx="4641467" cy="163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108722" y="137851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Propuesta de solución e incremento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-28026" y="1376393"/>
            <a:ext cx="91720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ERP web para ATI Termic SpA — Centraliza gestión de obras, compras, RRHH, finanzas y documentación. Stack: React.js + Node.js + Express + MySQL + JWT.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>
            <a:off x="108722" y="2468880"/>
            <a:ext cx="8926556" cy="2834640"/>
            <a:chOff x="274320" y="2468880"/>
            <a:chExt cx="8595360" cy="2834640"/>
          </a:xfrm>
        </p:grpSpPr>
        <p:sp>
          <p:nvSpPr>
            <p:cNvPr id="142" name="Google Shape;142;p3"/>
            <p:cNvSpPr/>
            <p:nvPr/>
          </p:nvSpPr>
          <p:spPr>
            <a:xfrm>
              <a:off x="27432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4320" y="262890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320" y="304038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30%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65760" y="368046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Seguridad, Obras,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Compras, Finanzas,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Documentación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432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1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Junio 2026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66344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FFB300"/>
            </a:solidFill>
            <a:ln cap="flat" cmpd="sng" w="12700">
              <a:solidFill>
                <a:srgbClr val="FFB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66344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INC 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466344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95%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475488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Finanzas Gerencial,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Mano de Obra,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Portafolio Web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4663440" y="477774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b="0" i="1" lang="en-US" sz="1000" u="none" cap="none" strike="noStrike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Oct. 2026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46888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246888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246888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70%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256032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RRHH, Catálogo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SKU, Solicitudes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Materiales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6888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1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Agosto 2026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685800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685800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4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85800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694944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Cierre Técnico,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Certificados,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685800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1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Nov. 2026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663440" y="4503420"/>
              <a:ext cx="20116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◄ ACTUAL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backlog – pila de producto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86632" y="1478324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92" y="1549157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/>
          <p:nvPr/>
        </p:nvSpPr>
        <p:spPr>
          <a:xfrm>
            <a:off x="773210" y="1681454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30310" y="2072685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 Nuevos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556290" y="1506723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6" name="Google Shape;17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4888" y="1555996"/>
            <a:ext cx="366578" cy="36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/>
          <p:nvPr/>
        </p:nvSpPr>
        <p:spPr>
          <a:xfrm>
            <a:off x="2899190" y="1693823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264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2583836" y="2077098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Estimadas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7259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0" name="Google Shape;18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9560" y="1609105"/>
            <a:ext cx="378212" cy="378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5217251" y="1738862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819430" y="2113251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9154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6396" y="1573563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/>
          <p:nvPr/>
        </p:nvSpPr>
        <p:spPr>
          <a:xfrm>
            <a:off x="7258348" y="1686607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942994" y="2081762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08440" y="3785615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297360" y="3785615"/>
            <a:ext cx="292608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6269160" y="3785615"/>
            <a:ext cx="11887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503600" y="3785615"/>
            <a:ext cx="11887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08440" y="3785615"/>
            <a:ext cx="73152" cy="39319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645600" y="3785615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Seguridad y Acceso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297360" y="3785615"/>
            <a:ext cx="2926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01, 02, 03, 04, 05, 06, 07, 62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6269160" y="3785615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7503600" y="3785615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74 HH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08440" y="4215383"/>
            <a:ext cx="274320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297360" y="4215383"/>
            <a:ext cx="292608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269160" y="4215383"/>
            <a:ext cx="118872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7503600" y="4215383"/>
            <a:ext cx="118872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508440" y="4215383"/>
            <a:ext cx="73152" cy="393192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645600" y="4215383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Gestión de Obras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297360" y="4215383"/>
            <a:ext cx="2926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08, 09, 10, 11, 12, 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6269160" y="4215383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7503600" y="4215383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58 HH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508440" y="4645152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297360" y="4645152"/>
            <a:ext cx="292608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6269160" y="4645152"/>
            <a:ext cx="11887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7503600" y="4645152"/>
            <a:ext cx="11887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508440" y="4645152"/>
            <a:ext cx="73152" cy="393192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645600" y="4645152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Finanzas e Impuestos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297360" y="4645152"/>
            <a:ext cx="2926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40, 51, 52, 61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269160" y="4645152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7503600" y="4645152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40 HH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08440" y="5074920"/>
            <a:ext cx="274320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3297360" y="5074920"/>
            <a:ext cx="292608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6269160" y="5074920"/>
            <a:ext cx="118872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7503600" y="5074920"/>
            <a:ext cx="118872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508440" y="5074920"/>
            <a:ext cx="73152" cy="393192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645600" y="5074920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Compras, Logística y Herramientas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3297360" y="5074920"/>
            <a:ext cx="2926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34, 50, 59, 60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269160" y="5074920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7503600" y="5074920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40 HH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508440" y="5504688"/>
            <a:ext cx="274320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3297360" y="5504688"/>
            <a:ext cx="292608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6269160" y="5504688"/>
            <a:ext cx="11887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7503600" y="5504688"/>
            <a:ext cx="118872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508440" y="5504688"/>
            <a:ext cx="73152" cy="393192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645600" y="5504688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Equipos HVAC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3297360" y="5504688"/>
            <a:ext cx="2926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43, 58, 63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6269160" y="5504688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7503600" y="5504688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24 HH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508440" y="5934455"/>
            <a:ext cx="274320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3297360" y="5934455"/>
            <a:ext cx="292608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6269160" y="5934455"/>
            <a:ext cx="118872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7503600" y="5934455"/>
            <a:ext cx="1188720" cy="39319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508440" y="5934455"/>
            <a:ext cx="73152" cy="39319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645600" y="5934455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Sistema y Administración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3297360" y="5934455"/>
            <a:ext cx="2926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46, 48, 49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6269160" y="5934455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7503600" y="5934455"/>
            <a:ext cx="11887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28 HH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"/>
          <p:cNvSpPr txBox="1"/>
          <p:nvPr/>
        </p:nvSpPr>
        <p:spPr>
          <a:xfrm>
            <a:off x="108721" y="122611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40: Adjuntando Comprobante de Gasto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274320" y="1143000"/>
            <a:ext cx="3931920" cy="731520"/>
          </a:xfrm>
          <a:prstGeom prst="roundRect">
            <a:avLst>
              <a:gd fmla="val 12500" name="adj"/>
            </a:avLst>
          </a:prstGeom>
          <a:solidFill>
            <a:srgbClr val="1A2744"/>
          </a:solidFill>
          <a:ln cap="flat" cmpd="sng" w="19050">
            <a:solidFill>
              <a:srgbClr val="FFB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8" name="Google Shape;2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1261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"/>
          <p:cNvSpPr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Boleta fotografiada como respaldo inmutable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274320" y="2011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389120" y="1143000"/>
            <a:ext cx="4480560" cy="1161288"/>
          </a:xfrm>
          <a:prstGeom prst="roundRect">
            <a:avLst>
              <a:gd fmla="val 6250" name="adj"/>
            </a:avLst>
          </a:prstGeom>
          <a:solidFill>
            <a:srgbClr val="1A2744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526280" y="12070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4526280" y="1347677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Supervisor de Obra / Administrador Total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UR-F-44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React + Express + Multer + MySQL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Después de cada egreso de caja chica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4389120" y="2444957"/>
            <a:ext cx="4480560" cy="1280160"/>
          </a:xfrm>
          <a:prstGeom prst="roundRect">
            <a:avLst>
              <a:gd fmla="val 7143" name="adj"/>
            </a:avLst>
          </a:prstGeom>
          <a:solidFill>
            <a:srgbClr val="1A2744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6" name="Google Shape;26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80" y="2518109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5"/>
          <p:cNvSpPr/>
          <p:nvPr/>
        </p:nvSpPr>
        <p:spPr>
          <a:xfrm>
            <a:off x="4937760" y="2518109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526280" y="2902157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Imagen borrosa o error de cámara: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Se permite cancelar y reintentar antes de guardar.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Comprobante ya adjunto: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Se bloquea el reemplazo: el respaldo es inmutable.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389120" y="3865786"/>
            <a:ext cx="4480560" cy="777240"/>
          </a:xfrm>
          <a:prstGeom prst="roundRect">
            <a:avLst>
              <a:gd fmla="val 11765" name="adj"/>
            </a:avLst>
          </a:prstGeom>
          <a:solidFill>
            <a:srgbClr val="1B5E20">
              <a:alpha val="90196"/>
            </a:srgbClr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4526280" y="393893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POSTCONDICIÓN: El egreso cuenta con una prueba digital inmutable para auditoría, que no puede reemplazarse ni eliminarse.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"/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selecciona un egreso en el historial de Caja Chica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Sistema muestra el egreso y la opción “Adjuntar Comprobante”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Actor toma foto de la boleta o selecciona un archivo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Sistema valida el formato y muestra una vista previa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Actor puede usar “Tomar otra” si la imagen salió borrosa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Actor presiona “Guardar Respaldo”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7. Sistema vincula el archivo al egreso y registra en el 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47963" y="4643025"/>
            <a:ext cx="3168074" cy="2249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6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"/>
          <p:cNvSpPr txBox="1"/>
          <p:nvPr/>
        </p:nvSpPr>
        <p:spPr>
          <a:xfrm>
            <a:off x="108721" y="89553"/>
            <a:ext cx="78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40: Diagrama de Secuencia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5" name="Google Shape;29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713" y="802875"/>
            <a:ext cx="6850583" cy="605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7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7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 Comprobante de Gasto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4" name="Google Shape;30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2825" y="881575"/>
            <a:ext cx="7438349" cy="5682075"/>
          </a:xfrm>
          <a:prstGeom prst="rect">
            <a:avLst/>
          </a:prstGeom>
          <a:solidFill>
            <a:srgbClr val="F2F4F7"/>
          </a:solidFill>
          <a:ln cap="flat" cmpd="sng" w="19050">
            <a:solidFill>
              <a:srgbClr val="8C8C8C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2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 txBox="1"/>
          <p:nvPr/>
        </p:nvSpPr>
        <p:spPr>
          <a:xfrm>
            <a:off x="108721" y="122611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62: Registrando Nuevo Usuario del Sistema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274320" y="1143000"/>
            <a:ext cx="3931920" cy="731520"/>
          </a:xfrm>
          <a:prstGeom prst="roundRect">
            <a:avLst>
              <a:gd fmla="val 12500" name="adj"/>
            </a:avLst>
          </a:prstGeom>
          <a:solidFill>
            <a:srgbClr val="1A2744"/>
          </a:solidFill>
          <a:ln cap="flat" cmpd="sng" w="19050">
            <a:solidFill>
              <a:srgbClr val="FFB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3" name="Google Shape;31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1261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2"/>
          <p:cNvSpPr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Cuentas con contraseña cifrada y nivel de acceso asignado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274320" y="2011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389120" y="1143000"/>
            <a:ext cx="4480560" cy="1161288"/>
          </a:xfrm>
          <a:prstGeom prst="roundRect">
            <a:avLst>
              <a:gd fmla="val 6250" name="adj"/>
            </a:avLst>
          </a:prstGeom>
          <a:solidFill>
            <a:srgbClr val="1A2744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526280" y="12070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526280" y="1347677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Administrador Total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UR-F-01, UR-F-05, UR-NF-12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React + Express + bcrypt + MySQL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b="0" i="0" lang="en-US" sz="105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Al incorporar un colaborador con acceso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389120" y="2444957"/>
            <a:ext cx="4480560" cy="1280160"/>
          </a:xfrm>
          <a:prstGeom prst="roundRect">
            <a:avLst>
              <a:gd fmla="val 7143" name="adj"/>
            </a:avLst>
          </a:prstGeom>
          <a:solidFill>
            <a:srgbClr val="1A2744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1" name="Google Shape;32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80" y="2518109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2"/>
          <p:cNvSpPr/>
          <p:nvPr/>
        </p:nvSpPr>
        <p:spPr>
          <a:xfrm>
            <a:off x="4937760" y="2518109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526280" y="2902157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RUT duplicado: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Ya existe una cuenta con ese RUT; se bloquea la creación.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Contraseña inválida: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Se indican los requisitos incumplidos y no se crea la cuenta.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389120" y="3865786"/>
            <a:ext cx="4480560" cy="777240"/>
          </a:xfrm>
          <a:prstGeom prst="roundRect">
            <a:avLst>
              <a:gd fmla="val 11765" name="adj"/>
            </a:avLst>
          </a:prstGeom>
          <a:solidFill>
            <a:srgbClr val="1B5E20">
              <a:alpha val="90196"/>
            </a:srgbClr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526280" y="393893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POSTCONDICIÓN: Cuenta guardada con contraseña cifrada y nivel de acceso; el colaborador ingresa de inmediato con su RUT y contraseña.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abre “Usuarios del Sistema” y presiona “Nuevo Usuario”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Sistema despliega RUT, nombre, correo, contraseña y 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Actor completa los datos y elige el nivel jerárquico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Sistema verifica que el RUT no esté registrado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Sistema valida contraseña: 8 caracteres, mayúscula y especial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Sistema cifra la contraseña y crea el Administrador o Supervisor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7. Sistema registra en el log y confirma el registro exitoso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12874" y="4643025"/>
            <a:ext cx="3233048" cy="222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9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 txBox="1"/>
          <p:nvPr/>
        </p:nvSpPr>
        <p:spPr>
          <a:xfrm>
            <a:off x="108721" y="8955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62: Diagrama de Secuencia</a:t>
            </a:r>
            <a:endParaRPr b="1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0" name="Google Shape;350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337" y="802875"/>
            <a:ext cx="7481316" cy="6055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0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0"/>
          <p:cNvSpPr txBox="1"/>
          <p:nvPr/>
        </p:nvSpPr>
        <p:spPr>
          <a:xfrm>
            <a:off x="108721" y="8955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 Registro de Usuario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9" name="Google Shape;35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250" y="1278875"/>
            <a:ext cx="7917502" cy="4948425"/>
          </a:xfrm>
          <a:prstGeom prst="rect">
            <a:avLst/>
          </a:prstGeom>
          <a:solidFill>
            <a:srgbClr val="F2F4F7"/>
          </a:solidFill>
          <a:ln cap="flat" cmpd="sng" w="19050">
            <a:solidFill>
              <a:srgbClr val="8C8C8C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11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1"/>
          <p:cNvSpPr txBox="1"/>
          <p:nvPr/>
        </p:nvSpPr>
        <p:spPr>
          <a:xfrm>
            <a:off x="108722" y="158734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Vistas Arquitectónicas 4+1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34188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9" name="Google Shape;36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142" y="1889321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1"/>
          <p:cNvSpPr/>
          <p:nvPr/>
        </p:nvSpPr>
        <p:spPr>
          <a:xfrm>
            <a:off x="341884" y="216821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Lógica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34188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clases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Modelo BD MySQL (3FN, 45 tablas)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322224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3" name="Google Shape;37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8820" y="1911223"/>
            <a:ext cx="333248" cy="33324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1"/>
          <p:cNvSpPr/>
          <p:nvPr/>
        </p:nvSpPr>
        <p:spPr>
          <a:xfrm>
            <a:off x="3222244" y="21676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 Proceso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322224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63 Diagramas de secuencia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(uno por CU)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10260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7" name="Google Shape;37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2896" y="1871033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1"/>
          <p:cNvSpPr/>
          <p:nvPr/>
        </p:nvSpPr>
        <p:spPr>
          <a:xfrm>
            <a:off x="6102604" y="214535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10260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componentes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React + Node + 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1654578" y="3981606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1" name="Google Shape;38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74650" y="4084741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1"/>
          <p:cNvSpPr/>
          <p:nvPr/>
        </p:nvSpPr>
        <p:spPr>
          <a:xfrm>
            <a:off x="1654578" y="4210726"/>
            <a:ext cx="2606040" cy="59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Física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1674650" y="4621686"/>
            <a:ext cx="25859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VPS + Nginx + Ubuntu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4964176" y="4007592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5" name="Google Shape;385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9023" y="4053323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/>
          <p:nvPr/>
        </p:nvSpPr>
        <p:spPr>
          <a:xfrm>
            <a:off x="4964176" y="4369508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Externa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991608" y="4692449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Casos de Uso extendidos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(63 CU acumulados)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1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3"/>
          <p:cNvSpPr txBox="1"/>
          <p:nvPr/>
        </p:nvSpPr>
        <p:spPr>
          <a:xfrm>
            <a:off x="108721" y="15870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Pruebas del sistema</a:t>
            </a:r>
            <a:endParaRPr b="1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96" name="Google Shape;396;p13"/>
          <p:cNvGrpSpPr/>
          <p:nvPr/>
        </p:nvGrpSpPr>
        <p:grpSpPr>
          <a:xfrm>
            <a:off x="108721" y="1133856"/>
            <a:ext cx="4280399" cy="5504688"/>
            <a:chOff x="274320" y="1417320"/>
            <a:chExt cx="4114800" cy="3474720"/>
          </a:xfrm>
        </p:grpSpPr>
        <p:sp>
          <p:nvSpPr>
            <p:cNvPr id="397" name="Google Shape;397;p13"/>
            <p:cNvSpPr/>
            <p:nvPr/>
          </p:nvSpPr>
          <p:spPr>
            <a:xfrm>
              <a:off x="274320" y="1417320"/>
              <a:ext cx="4114800" cy="347472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457200" y="1508760"/>
              <a:ext cx="3749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288D1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288D1"/>
                  </a:solidFill>
                  <a:latin typeface="Arial"/>
                  <a:ea typeface="Arial"/>
                  <a:cs typeface="Arial"/>
                  <a:sym typeface="Arial"/>
                </a:rPr>
                <a:t>ESTRUCTURA DE CADA PRUEBA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365760" y="1920240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457200" y="192024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ID Prueba: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1920240" y="192024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PT-XX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365760" y="2340864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457200" y="234086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Asociado: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1920240" y="234086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CU XX: Nombre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365760" y="2761488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457200" y="2761488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Datos de Entrada: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920240" y="2761488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Valores ingresados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365760" y="3182112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57200" y="3182112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Esperado: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1920240" y="3182112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Comportamiento esperado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365760" y="3602736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457200" y="3602736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Obtenido: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1920240" y="3602736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Respuesta real del sistema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365760" y="4023360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457200" y="402336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Estado: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1920240" y="402336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APROBADA / RECHAZADA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365760" y="4443984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457200" y="444398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Evidencia: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1920240" y="444398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Captura de pantalla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13"/>
          <p:cNvGrpSpPr/>
          <p:nvPr/>
        </p:nvGrpSpPr>
        <p:grpSpPr>
          <a:xfrm>
            <a:off x="4557668" y="1133856"/>
            <a:ext cx="4477610" cy="5504688"/>
            <a:chOff x="4561308" y="1417320"/>
            <a:chExt cx="4206240" cy="3749040"/>
          </a:xfrm>
        </p:grpSpPr>
        <p:sp>
          <p:nvSpPr>
            <p:cNvPr id="421" name="Google Shape;421;p13"/>
            <p:cNvSpPr/>
            <p:nvPr/>
          </p:nvSpPr>
          <p:spPr>
            <a:xfrm>
              <a:off x="4617720" y="1417320"/>
              <a:ext cx="4114800" cy="374904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4561308" y="1417320"/>
              <a:ext cx="4206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PRIORITARIOS EN PRUEBAS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" name="Google Shape;423;p13"/>
            <p:cNvGrpSpPr/>
            <p:nvPr/>
          </p:nvGrpSpPr>
          <p:grpSpPr>
            <a:xfrm>
              <a:off x="4663440" y="1828800"/>
              <a:ext cx="3959352" cy="3200400"/>
              <a:chOff x="4663440" y="1828800"/>
              <a:chExt cx="4206240" cy="3200400"/>
            </a:xfrm>
          </p:grpSpPr>
          <p:sp>
            <p:nvSpPr>
              <p:cNvPr id="424" name="Google Shape;424;p13"/>
              <p:cNvSpPr/>
              <p:nvPr/>
            </p:nvSpPr>
            <p:spPr>
              <a:xfrm>
                <a:off x="4663440" y="1828800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4754880" y="1828800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i="0" lang="en-US" sz="1300" u="none" cap="none" strike="noStrike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40</a:t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3"/>
              <p:cNvSpPr/>
              <p:nvPr/>
            </p:nvSpPr>
            <p:spPr>
              <a:xfrm>
                <a:off x="5440680" y="1874520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i="0" lang="en-US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Comprobante de gasto</a:t>
                </a:r>
                <a:endParaRPr b="0" i="0" sz="10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3"/>
              <p:cNvSpPr/>
              <p:nvPr/>
            </p:nvSpPr>
            <p:spPr>
              <a:xfrm>
                <a:off x="5440680" y="2130552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b="0" i="1" lang="en-US" sz="950" u="none" cap="none" strike="noStrike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Respaldo inmutable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3"/>
              <p:cNvSpPr/>
              <p:nvPr/>
            </p:nvSpPr>
            <p:spPr>
              <a:xfrm>
                <a:off x="4663440" y="2487168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3"/>
              <p:cNvSpPr/>
              <p:nvPr/>
            </p:nvSpPr>
            <p:spPr>
              <a:xfrm>
                <a:off x="4754880" y="2487168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i="0" lang="en-US" sz="1300" u="none" cap="none" strike="noStrike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62</a:t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3"/>
              <p:cNvSpPr/>
              <p:nvPr/>
            </p:nvSpPr>
            <p:spPr>
              <a:xfrm>
                <a:off x="5440680" y="2532888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i="0" lang="en-US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Registro de usuarios</a:t>
                </a:r>
                <a:endParaRPr b="0" i="0" sz="10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3"/>
              <p:cNvSpPr/>
              <p:nvPr/>
            </p:nvSpPr>
            <p:spPr>
              <a:xfrm>
                <a:off x="5440680" y="2788920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b="0" i="1" lang="en-US" sz="950" u="none" cap="none" strike="noStrike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Contraseña cifrada y rol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3"/>
              <p:cNvSpPr/>
              <p:nvPr/>
            </p:nvSpPr>
            <p:spPr>
              <a:xfrm>
                <a:off x="4663440" y="3145536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3"/>
              <p:cNvSpPr/>
              <p:nvPr/>
            </p:nvSpPr>
            <p:spPr>
              <a:xfrm>
                <a:off x="4754880" y="3145536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i="0" lang="en-US" sz="1300" u="none" cap="none" strike="noStrike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05</a:t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5440680" y="3191256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i="0" lang="en-US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Sesión por inactividad</a:t>
                </a:r>
                <a:endParaRPr b="0" i="0" sz="10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5440680" y="3447288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b="0" i="1" lang="en-US" sz="950" u="none" cap="none" strike="noStrike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Cierre automático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4663440" y="3803904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4754880" y="3803904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i="0" lang="en-US" sz="1300" u="none" cap="none" strike="noStrike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52</a:t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5440680" y="3849624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i="0" lang="en-US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Cálculo de impuestos</a:t>
                </a:r>
                <a:endParaRPr b="0" i="0" sz="10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5440680" y="4105656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b="0" i="1" lang="en-US" sz="950" u="none" cap="none" strike="noStrike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Neto, IVA y total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4663440" y="4462272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4754880" y="4462272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i="0" lang="en-US" sz="1300" u="none" cap="none" strike="noStrike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61</a:t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3"/>
              <p:cNvSpPr/>
              <p:nvPr/>
            </p:nvSpPr>
            <p:spPr>
              <a:xfrm>
                <a:off x="5440680" y="4507992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i="0" lang="en-US" sz="105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Rebaja de costo de obra</a:t>
                </a:r>
                <a:endParaRPr b="0" i="0" sz="10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3"/>
              <p:cNvSpPr/>
              <p:nvPr/>
            </p:nvSpPr>
            <p:spPr>
              <a:xfrm>
                <a:off x="5440680" y="4764024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b="0" i="1" lang="en-US" sz="950" u="none" cap="none" strike="noStrike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Reingreso de sobrantes</a:t>
                </a:r>
                <a:endParaRPr b="0" i="0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1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1" name="Google Shape;45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2029969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4"/>
          <p:cNvSpPr/>
          <p:nvPr/>
        </p:nvSpPr>
        <p:spPr>
          <a:xfrm>
            <a:off x="446051" y="3585021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TERCER INCREMENTO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457200" y="406322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95% COMPLETADO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446051" y="4770023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 Casos de Uso  ·  264 HH  ·  6 Módulos  ·  Sistema ERP ATI Termic SpA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g3ed81901e6f_2_15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ed81901e6f_2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ed81901e6f_2_15"/>
          <p:cNvSpPr/>
          <p:nvPr/>
        </p:nvSpPr>
        <p:spPr>
          <a:xfrm>
            <a:off x="457200" y="166762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continuación…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¡Presentación DEMO!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g3ed81901e6f_2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550" y="2883528"/>
            <a:ext cx="8612901" cy="3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