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15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70" r:id="rId25"/>
    <p:sldId id="264" r:id="rId14"/>
    <p:sldId id="265" r:id="rId15"/>
    <p:sldId id="266" r:id="rId16"/>
    <p:sldId id="267" r:id="rId17"/>
    <p:sldId id="268" r:id="rId18"/>
    <p:sldId id="269" r:id="rId19"/>
  </p:sldIdLst>
  <p:sldSz cy="6858000" cx="9144000"/>
  <p:notesSz cx="6858000" cy="9144000"/>
  <p:embeddedFontLst>
    <p:embeddedFont>
      <p:font typeface="Helvetica Neue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4" roundtripDataSignature="AMtx7mhjFTgjbhTocbyQEn0IMRxpnrsa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20" Type="http://schemas.openxmlformats.org/officeDocument/2006/relationships/font" Target="fonts/HelveticaNeue-regular.fntdata"/><Relationship Id="rId11" Type="http://schemas.openxmlformats.org/officeDocument/2006/relationships/slide" Target="slides/slide6.xml"/><Relationship Id="rId22" Type="http://schemas.openxmlformats.org/officeDocument/2006/relationships/font" Target="fonts/HelveticaNeue-italic.fntdata"/><Relationship Id="rId10" Type="http://schemas.openxmlformats.org/officeDocument/2006/relationships/slide" Target="slides/slide5.xml"/><Relationship Id="rId21" Type="http://schemas.openxmlformats.org/officeDocument/2006/relationships/font" Target="fonts/HelveticaNeue-bold.fntdata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HelveticaNeue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  <Relationship Id="rId25" Type="http://schemas.openxmlformats.org/officeDocument/2006/relationships/slide" Target="slides/slide15.xml"/>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ed81901e6f_2_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1" name="Google Shape;451;g3ed81901e6f_2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g3ed81901e6f_2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0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0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3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4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6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6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3.jp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11" Type="http://schemas.openxmlformats.org/officeDocument/2006/relationships/image" Target="../media/image23.png"/><Relationship Id="rId10" Type="http://schemas.openxmlformats.org/officeDocument/2006/relationships/image" Target="../media/image8.png"/><Relationship Id="rId9" Type="http://schemas.openxmlformats.org/officeDocument/2006/relationships/image" Target="../media/image1.png"/><Relationship Id="rId5" Type="http://schemas.openxmlformats.org/officeDocument/2006/relationships/image" Target="../media/image21.png"/><Relationship Id="rId6" Type="http://schemas.openxmlformats.org/officeDocument/2006/relationships/image" Target="../media/image24.png"/><Relationship Id="rId7" Type="http://schemas.openxmlformats.org/officeDocument/2006/relationships/image" Target="../media/image5.png"/><Relationship Id="rId8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7.png"/><Relationship Id="rId7" Type="http://schemas.openxmlformats.org/officeDocument/2006/relationships/image" Target="../media/image26.png"/><Relationship Id="rId8" Type="http://schemas.openxmlformats.org/officeDocument/2006/relationships/image" Target="../media/image16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13.png"/><Relationship Id="rId7" Type="http://schemas.openxmlformats.org/officeDocument/2006/relationships/image" Target="../media/image23.png"/><Relationship Id="rId8" Type="http://schemas.openxmlformats.org/officeDocument/2006/relationships/image" Target="../media/image3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25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29.jp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27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3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9" Type="http://schemas.openxmlformats.org/officeDocument/2006/relationships/image" Target="../media/image16.png"/><Relationship Id="rId5" Type="http://schemas.openxmlformats.org/officeDocument/2006/relationships/image" Target="../media/image14.png"/><Relationship Id="rId6" Type="http://schemas.openxmlformats.org/officeDocument/2006/relationships/image" Target="../media/image9.png"/><Relationship Id="rId7" Type="http://schemas.openxmlformats.org/officeDocument/2006/relationships/image" Target="../media/image18.png"/><Relationship Id="rId8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23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28.png"/><Relationship Id="rId6" Type="http://schemas.openxmlformats.org/officeDocument/2006/relationships/image" Target="../media/image13.png"/><Relationship Id="rId7" Type="http://schemas.openxmlformats.org/officeDocument/2006/relationships/image" Target="../media/image23.png"/><Relationship Id="rId8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" name="Google Shape;88;p1"/>
          <p:cNvCxnSpPr/>
          <p:nvPr/>
        </p:nvCxnSpPr>
        <p:spPr>
          <a:xfrm>
            <a:off x="492141" y="3591697"/>
            <a:ext cx="7778648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89" name="Google Shape;89;p1"/>
          <p:cNvCxnSpPr/>
          <p:nvPr/>
        </p:nvCxnSpPr>
        <p:spPr>
          <a:xfrm flipH="1">
            <a:off x="2186081" y="2158313"/>
            <a:ext cx="1" cy="1273156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90" name="Google Shape;90;p1"/>
          <p:cNvSpPr txBox="1"/>
          <p:nvPr/>
        </p:nvSpPr>
        <p:spPr>
          <a:xfrm>
            <a:off x="1960898" y="2237908"/>
            <a:ext cx="628752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Ingeniería de Software II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439206" y="3642221"/>
            <a:ext cx="5189700" cy="24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Gonzalo Anabalón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Alex Arancibia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Pablo Martínez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Felipe Oregón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Martín Sáez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Benjamín Velásquez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Felipe Yelpi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-"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/>
          </a:p>
        </p:txBody>
      </p:sp>
      <p:pic>
        <p:nvPicPr>
          <p:cNvPr id="92" name="Google Shape;92;p1"/>
          <p:cNvPicPr preferRelativeResize="0"/>
          <p:nvPr/>
        </p:nvPicPr>
        <p:blipFill rotWithShape="1">
          <a:blip r:embed="rId4">
            <a:alphaModFix/>
          </a:blip>
          <a:srcRect b="24764" l="0" r="0" t="25505"/>
          <a:stretch/>
        </p:blipFill>
        <p:spPr>
          <a:xfrm>
            <a:off x="0" y="0"/>
            <a:ext cx="9158013" cy="1435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"/>
          <p:cNvPicPr preferRelativeResize="0"/>
          <p:nvPr/>
        </p:nvPicPr>
        <p:blipFill rotWithShape="1">
          <a:blip r:embed="rId4">
            <a:alphaModFix/>
          </a:blip>
          <a:srcRect b="5990" l="-153" r="153" t="46510"/>
          <a:stretch/>
        </p:blipFill>
        <p:spPr>
          <a:xfrm>
            <a:off x="-14013" y="5477590"/>
            <a:ext cx="9172026" cy="137128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"/>
          <p:cNvSpPr txBox="1"/>
          <p:nvPr/>
        </p:nvSpPr>
        <p:spPr>
          <a:xfrm>
            <a:off x="492141" y="5858386"/>
            <a:ext cx="106952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15/09/2026</a:t>
            </a:r>
            <a:endParaRPr/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6349" y="2158313"/>
            <a:ext cx="1279083" cy="118959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"/>
          <p:cNvSpPr txBox="1"/>
          <p:nvPr/>
        </p:nvSpPr>
        <p:spPr>
          <a:xfrm>
            <a:off x="346841" y="1818290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2763772" y="2836642"/>
            <a:ext cx="4681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ATI Termic SPA Climatización Industrial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70% del sistema ERP | Incremento II | Grupo 5</a:t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5472023" y="5139036"/>
            <a:ext cx="368599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Profesor: Paulo Quinsacara Jofré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"/>
          <p:cNvPicPr preferRelativeResize="0"/>
          <p:nvPr/>
        </p:nvPicPr>
        <p:blipFill rotWithShape="1">
          <a:blip r:embed="rId3">
            <a:alphaModFix/>
          </a:blip>
          <a:srcRect b="51651" l="-153" r="153" t="20538"/>
          <a:stretch/>
        </p:blipFill>
        <p:spPr>
          <a:xfrm>
            <a:off x="-14013" y="1"/>
            <a:ext cx="9172026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"/>
          <p:cNvSpPr txBox="1"/>
          <p:nvPr/>
        </p:nvSpPr>
        <p:spPr>
          <a:xfrm>
            <a:off x="108721" y="133062"/>
            <a:ext cx="780435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1" lang="en-US" sz="2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Contenido de la presentación</a:t>
            </a:r>
            <a:endParaRPr b="1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393192" y="1197864"/>
            <a:ext cx="4114800" cy="713232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8" name="Google Shape;108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0352" y="135331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/>
          <p:nvPr/>
        </p:nvSpPr>
        <p:spPr>
          <a:xfrm>
            <a:off x="960120" y="1289304"/>
            <a:ext cx="4114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1399032" y="1289304"/>
            <a:ext cx="29260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Propuesta de Solución e Incremento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393192" y="2112264"/>
            <a:ext cx="4114800" cy="713232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2" name="Google Shape;112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0352" y="226771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/>
          <p:nvPr/>
        </p:nvSpPr>
        <p:spPr>
          <a:xfrm>
            <a:off x="960120" y="2203704"/>
            <a:ext cx="4114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1399032" y="2203704"/>
            <a:ext cx="29260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Product Backlog – Pila del Producto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393192" y="3026664"/>
            <a:ext cx="4114800" cy="713232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6" name="Google Shape;116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0352" y="318211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"/>
          <p:cNvSpPr/>
          <p:nvPr/>
        </p:nvSpPr>
        <p:spPr>
          <a:xfrm>
            <a:off x="960120" y="3118104"/>
            <a:ext cx="4114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"/>
          <p:cNvSpPr/>
          <p:nvPr/>
        </p:nvSpPr>
        <p:spPr>
          <a:xfrm>
            <a:off x="1399032" y="3118104"/>
            <a:ext cx="29260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Sprint Backlog – Casos de Uso Destacados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"/>
          <p:cNvSpPr/>
          <p:nvPr/>
        </p:nvSpPr>
        <p:spPr>
          <a:xfrm>
            <a:off x="393192" y="3941064"/>
            <a:ext cx="4114800" cy="713232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0" name="Google Shape;120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0352" y="409651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"/>
          <p:cNvSpPr/>
          <p:nvPr/>
        </p:nvSpPr>
        <p:spPr>
          <a:xfrm>
            <a:off x="960120" y="4032504"/>
            <a:ext cx="4114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"/>
          <p:cNvSpPr/>
          <p:nvPr/>
        </p:nvSpPr>
        <p:spPr>
          <a:xfrm>
            <a:off x="1399032" y="4032504"/>
            <a:ext cx="29260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Vistas 4+1 – Arquitectura del Sistema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"/>
          <p:cNvSpPr/>
          <p:nvPr/>
        </p:nvSpPr>
        <p:spPr>
          <a:xfrm>
            <a:off x="4721512" y="1192439"/>
            <a:ext cx="4114800" cy="713100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4" name="Google Shape;124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58672" y="1347887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"/>
          <p:cNvSpPr/>
          <p:nvPr/>
        </p:nvSpPr>
        <p:spPr>
          <a:xfrm>
            <a:off x="5288440" y="1283879"/>
            <a:ext cx="4116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2200">
                <a:solidFill>
                  <a:srgbClr val="FFB300"/>
                </a:solidFill>
              </a:rPr>
              <a:t>5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"/>
          <p:cNvSpPr/>
          <p:nvPr/>
        </p:nvSpPr>
        <p:spPr>
          <a:xfrm>
            <a:off x="5727352" y="1283879"/>
            <a:ext cx="29262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Pruebas Unitarias y Evidencias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"/>
          <p:cNvSpPr/>
          <p:nvPr/>
        </p:nvSpPr>
        <p:spPr>
          <a:xfrm>
            <a:off x="4721512" y="2112327"/>
            <a:ext cx="4114800" cy="713100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8" name="Google Shape;128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858672" y="2267775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"/>
          <p:cNvSpPr/>
          <p:nvPr/>
        </p:nvSpPr>
        <p:spPr>
          <a:xfrm>
            <a:off x="5288440" y="2203767"/>
            <a:ext cx="4116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2200">
                <a:solidFill>
                  <a:srgbClr val="FFB300"/>
                </a:solidFill>
              </a:rPr>
              <a:t>6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"/>
          <p:cNvSpPr/>
          <p:nvPr/>
        </p:nvSpPr>
        <p:spPr>
          <a:xfrm>
            <a:off x="5727352" y="2203767"/>
            <a:ext cx="29262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Demo del Sistema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251266" y="5002955"/>
            <a:ext cx="4641467" cy="16389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3"/>
          <p:cNvPicPr preferRelativeResize="0"/>
          <p:nvPr/>
        </p:nvPicPr>
        <p:blipFill rotWithShape="1">
          <a:blip r:embed="rId3">
            <a:alphaModFix/>
          </a:blip>
          <a:srcRect b="51651" l="-153" r="153" t="20538"/>
          <a:stretch/>
        </p:blipFill>
        <p:spPr>
          <a:xfrm>
            <a:off x="-14013" y="1"/>
            <a:ext cx="9172026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3"/>
          <p:cNvSpPr txBox="1"/>
          <p:nvPr/>
        </p:nvSpPr>
        <p:spPr>
          <a:xfrm>
            <a:off x="108722" y="137851"/>
            <a:ext cx="780435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Propuesta de solución e incremento</a:t>
            </a:r>
            <a:endParaRPr b="1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0" name="Google Shape;140;p3"/>
          <p:cNvSpPr txBox="1"/>
          <p:nvPr/>
        </p:nvSpPr>
        <p:spPr>
          <a:xfrm>
            <a:off x="-28026" y="1376393"/>
            <a:ext cx="917202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Sistema ERP web para ATI Termic SpA — Centraliza gestión de obras, compras, RRHH, finanzas y documentación. Stack: React.js + Node.js + Express + MySQL + JWT.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1" name="Google Shape;141;p3"/>
          <p:cNvGrpSpPr/>
          <p:nvPr/>
        </p:nvGrpSpPr>
        <p:grpSpPr>
          <a:xfrm>
            <a:off x="108722" y="2468880"/>
            <a:ext cx="8926556" cy="2834640"/>
            <a:chOff x="274320" y="2468880"/>
            <a:chExt cx="8595360" cy="2834640"/>
          </a:xfrm>
        </p:grpSpPr>
        <p:sp>
          <p:nvSpPr>
            <p:cNvPr id="142" name="Google Shape;142;p3"/>
            <p:cNvSpPr/>
            <p:nvPr/>
          </p:nvSpPr>
          <p:spPr>
            <a:xfrm>
              <a:off x="274320" y="2468880"/>
              <a:ext cx="2011680" cy="2834640"/>
            </a:xfrm>
            <a:prstGeom prst="roundRect">
              <a:avLst>
                <a:gd fmla="val 5455" name="adj"/>
              </a:avLst>
            </a:prstGeom>
            <a:solidFill>
              <a:srgbClr val="1A2744"/>
            </a:solidFill>
            <a:ln cap="flat" cmpd="sng" w="12700">
              <a:solidFill>
                <a:srgbClr val="0288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274320" y="2628900"/>
              <a:ext cx="2011680" cy="4114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400"/>
                <a:buFont typeface="Arial"/>
                <a:buNone/>
              </a:pPr>
              <a:r>
                <a:rPr b="1" lang="en-US" sz="14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INC 1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274320" y="3040380"/>
              <a:ext cx="2011680" cy="594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B300"/>
                </a:buClr>
                <a:buSzPts val="3000"/>
                <a:buFont typeface="Arial"/>
                <a:buNone/>
              </a:pPr>
              <a:r>
                <a:rPr b="1" lang="en-US" sz="3000">
                  <a:solidFill>
                    <a:srgbClr val="FFB300"/>
                  </a:solidFill>
                  <a:latin typeface="Arial"/>
                  <a:ea typeface="Arial"/>
                  <a:cs typeface="Arial"/>
                  <a:sym typeface="Arial"/>
                </a:rPr>
                <a:t>30%</a:t>
              </a:r>
              <a:endParaRPr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365760" y="3680460"/>
              <a:ext cx="1828800" cy="1005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Seguridad, Obras,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Compras, Finanzas,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Documentación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274320" y="4709160"/>
              <a:ext cx="20116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i="1" lang="en-US" sz="10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Junio 2026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2468880" y="2468880"/>
              <a:ext cx="2011680" cy="2834640"/>
            </a:xfrm>
            <a:prstGeom prst="roundRect">
              <a:avLst>
                <a:gd fmla="val 5455" name="adj"/>
              </a:avLst>
            </a:prstGeom>
            <a:solidFill>
              <a:srgbClr val="FFB300"/>
            </a:solidFill>
            <a:ln cap="flat" cmpd="sng" w="12700">
              <a:solidFill>
                <a:srgbClr val="FFB3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2468880" y="2560320"/>
              <a:ext cx="2011680" cy="4114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D1B2A"/>
                </a:buClr>
                <a:buSzPts val="1400"/>
                <a:buFont typeface="Arial"/>
                <a:buNone/>
              </a:pPr>
              <a:r>
                <a:rPr b="1" lang="en-US" sz="1400">
                  <a:solidFill>
                    <a:srgbClr val="0D1B2A"/>
                  </a:solidFill>
                  <a:latin typeface="Arial"/>
                  <a:ea typeface="Arial"/>
                  <a:cs typeface="Arial"/>
                  <a:sym typeface="Arial"/>
                </a:rPr>
                <a:t>INC 2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2468880" y="2971800"/>
              <a:ext cx="2011680" cy="594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D1B2A"/>
                </a:buClr>
                <a:buSzPts val="3000"/>
                <a:buFont typeface="Arial"/>
                <a:buNone/>
              </a:pPr>
              <a:r>
                <a:rPr b="1" lang="en-US" sz="3000">
                  <a:solidFill>
                    <a:srgbClr val="0D1B2A"/>
                  </a:solidFill>
                  <a:latin typeface="Arial"/>
                  <a:ea typeface="Arial"/>
                  <a:cs typeface="Arial"/>
                  <a:sym typeface="Arial"/>
                </a:rPr>
                <a:t>70%</a:t>
              </a:r>
              <a:endParaRPr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2560320" y="3611880"/>
              <a:ext cx="1828800" cy="1005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D1B2A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0D1B2A"/>
                  </a:solidFill>
                  <a:latin typeface="Arial"/>
                  <a:ea typeface="Arial"/>
                  <a:cs typeface="Arial"/>
                  <a:sym typeface="Arial"/>
                </a:rPr>
                <a:t>RRHH, Catálogo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D1B2A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0D1B2A"/>
                  </a:solidFill>
                  <a:latin typeface="Arial"/>
                  <a:ea typeface="Arial"/>
                  <a:cs typeface="Arial"/>
                  <a:sym typeface="Arial"/>
                </a:rPr>
                <a:t>SKU, Solicitudes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D1B2A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0D1B2A"/>
                  </a:solidFill>
                  <a:latin typeface="Arial"/>
                  <a:ea typeface="Arial"/>
                  <a:cs typeface="Arial"/>
                  <a:sym typeface="Arial"/>
                </a:rPr>
                <a:t>Materiales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2468880" y="4777740"/>
              <a:ext cx="20116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D1B2A"/>
                </a:buClr>
                <a:buSzPts val="1000"/>
                <a:buFont typeface="Arial"/>
                <a:buNone/>
              </a:pPr>
              <a:r>
                <a:rPr i="1" lang="en-US" sz="1000">
                  <a:solidFill>
                    <a:srgbClr val="0D1B2A"/>
                  </a:solidFill>
                  <a:latin typeface="Arial"/>
                  <a:ea typeface="Arial"/>
                  <a:cs typeface="Arial"/>
                  <a:sym typeface="Arial"/>
                </a:rPr>
                <a:t>Agosto 2026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4663440" y="2468880"/>
              <a:ext cx="2011680" cy="2834640"/>
            </a:xfrm>
            <a:prstGeom prst="roundRect">
              <a:avLst>
                <a:gd fmla="val 5455" name="adj"/>
              </a:avLst>
            </a:prstGeom>
            <a:solidFill>
              <a:srgbClr val="1A2744"/>
            </a:solidFill>
            <a:ln cap="flat" cmpd="sng" w="12700">
              <a:solidFill>
                <a:srgbClr val="0288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4663440" y="2560320"/>
              <a:ext cx="2011680" cy="4114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400"/>
                <a:buFont typeface="Arial"/>
                <a:buNone/>
              </a:pPr>
              <a:r>
                <a:rPr b="1" lang="en-US" sz="14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INC 3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4663440" y="2971800"/>
              <a:ext cx="2011680" cy="594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B300"/>
                </a:buClr>
                <a:buSzPts val="3000"/>
                <a:buFont typeface="Arial"/>
                <a:buNone/>
              </a:pPr>
              <a:r>
                <a:rPr b="1" lang="en-US" sz="3000">
                  <a:solidFill>
                    <a:srgbClr val="FFB300"/>
                  </a:solidFill>
                  <a:latin typeface="Arial"/>
                  <a:ea typeface="Arial"/>
                  <a:cs typeface="Arial"/>
                  <a:sym typeface="Arial"/>
                </a:rPr>
                <a:t>95%</a:t>
              </a:r>
              <a:endParaRPr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4754880" y="3611880"/>
              <a:ext cx="1828800" cy="1005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Finanzas Gerencial,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Mano de Obra,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Portafolio Web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4663440" y="4709160"/>
              <a:ext cx="20116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i="1" lang="en-US" sz="10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Oct. 2026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6858000" y="2468880"/>
              <a:ext cx="2011680" cy="2834640"/>
            </a:xfrm>
            <a:prstGeom prst="roundRect">
              <a:avLst>
                <a:gd fmla="val 5455" name="adj"/>
              </a:avLst>
            </a:prstGeom>
            <a:solidFill>
              <a:srgbClr val="1A2744"/>
            </a:solidFill>
            <a:ln cap="flat" cmpd="sng" w="12700">
              <a:solidFill>
                <a:srgbClr val="0288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6858000" y="2560320"/>
              <a:ext cx="2011680" cy="4114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400"/>
                <a:buFont typeface="Arial"/>
                <a:buNone/>
              </a:pPr>
              <a:r>
                <a:rPr b="1" lang="en-US" sz="14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INC 4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6858000" y="2971800"/>
              <a:ext cx="2011680" cy="594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B300"/>
                </a:buClr>
                <a:buSzPts val="3000"/>
                <a:buFont typeface="Arial"/>
                <a:buNone/>
              </a:pPr>
              <a:r>
                <a:rPr b="1" lang="en-US" sz="3000">
                  <a:solidFill>
                    <a:srgbClr val="FFB300"/>
                  </a:solidFill>
                  <a:latin typeface="Arial"/>
                  <a:ea typeface="Arial"/>
                  <a:cs typeface="Arial"/>
                  <a:sym typeface="Arial"/>
                </a:rPr>
                <a:t>100%</a:t>
              </a:r>
              <a:endParaRPr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6949440" y="3611880"/>
              <a:ext cx="1828800" cy="1005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Cierre Técnico,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Certificados,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Producción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6858000" y="4709160"/>
              <a:ext cx="20116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i="1" lang="en-US" sz="10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Nov. 2026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2468880" y="4503420"/>
              <a:ext cx="20116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D1B2A"/>
                </a:buClr>
                <a:buSzPts val="900"/>
                <a:buFont typeface="Arial"/>
                <a:buNone/>
              </a:pPr>
              <a:r>
                <a:rPr b="1" lang="en-US" sz="900">
                  <a:solidFill>
                    <a:srgbClr val="0D1B2A"/>
                  </a:solidFill>
                  <a:latin typeface="Arial"/>
                  <a:ea typeface="Arial"/>
                  <a:cs typeface="Arial"/>
                  <a:sym typeface="Arial"/>
                </a:rPr>
                <a:t>◄ ACTUAL</a:t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4"/>
          <p:cNvPicPr preferRelativeResize="0"/>
          <p:nvPr/>
        </p:nvPicPr>
        <p:blipFill rotWithShape="1">
          <a:blip r:embed="rId3">
            <a:alphaModFix/>
          </a:blip>
          <a:srcRect b="51651" l="-153" r="153" t="20538"/>
          <a:stretch/>
        </p:blipFill>
        <p:spPr>
          <a:xfrm>
            <a:off x="-14013" y="1"/>
            <a:ext cx="9172026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4"/>
          <p:cNvSpPr txBox="1"/>
          <p:nvPr/>
        </p:nvSpPr>
        <p:spPr>
          <a:xfrm>
            <a:off x="108721" y="89553"/>
            <a:ext cx="780435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1" lang="en-US" sz="2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Product backlog – pila de producto</a:t>
            </a:r>
            <a:endParaRPr b="1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386632" y="1478324"/>
            <a:ext cx="1920240" cy="1386723"/>
          </a:xfrm>
          <a:prstGeom prst="roundRect">
            <a:avLst>
              <a:gd fmla="val 7692" name="adj"/>
            </a:avLst>
          </a:prstGeom>
          <a:solidFill>
            <a:srgbClr val="1565C0"/>
          </a:solidFill>
          <a:ln>
            <a:noFill/>
          </a:ln>
          <a:effectLst>
            <a:outerShdw blurRad="76200" rotWithShape="0" algn="bl" dir="2700000" dist="25400">
              <a:srgbClr val="000000">
                <a:alpha val="1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2" name="Google Shape;17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5792" y="1549157"/>
            <a:ext cx="385663" cy="385663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4"/>
          <p:cNvSpPr/>
          <p:nvPr/>
        </p:nvSpPr>
        <p:spPr>
          <a:xfrm>
            <a:off x="773210" y="1681454"/>
            <a:ext cx="1234440" cy="6400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430310" y="2072685"/>
            <a:ext cx="1920240" cy="48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 Nuevos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2556290" y="1506723"/>
            <a:ext cx="1920240" cy="1386723"/>
          </a:xfrm>
          <a:prstGeom prst="roundRect">
            <a:avLst>
              <a:gd fmla="val 7692" name="adj"/>
            </a:avLst>
          </a:prstGeom>
          <a:solidFill>
            <a:srgbClr val="1565C0"/>
          </a:solidFill>
          <a:ln>
            <a:noFill/>
          </a:ln>
          <a:effectLst>
            <a:outerShdw blurRad="76200" rotWithShape="0" algn="bl" dir="27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6" name="Google Shape;176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54888" y="1555996"/>
            <a:ext cx="366578" cy="366578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4"/>
          <p:cNvSpPr/>
          <p:nvPr/>
        </p:nvSpPr>
        <p:spPr>
          <a:xfrm>
            <a:off x="2899190" y="1693823"/>
            <a:ext cx="1234440" cy="6400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176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2583836" y="2077098"/>
            <a:ext cx="1920240" cy="48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HH Estimadas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4725948" y="1518890"/>
            <a:ext cx="1920240" cy="1386723"/>
          </a:xfrm>
          <a:prstGeom prst="roundRect">
            <a:avLst>
              <a:gd fmla="val 7692" name="adj"/>
            </a:avLst>
          </a:prstGeom>
          <a:solidFill>
            <a:srgbClr val="1565C0"/>
          </a:solidFill>
          <a:ln>
            <a:noFill/>
          </a:ln>
          <a:effectLst>
            <a:outerShdw blurRad="76200" rotWithShape="0" algn="bl" dir="27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0" name="Google Shape;180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99560" y="1609105"/>
            <a:ext cx="378212" cy="378212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4"/>
          <p:cNvSpPr/>
          <p:nvPr/>
        </p:nvSpPr>
        <p:spPr>
          <a:xfrm>
            <a:off x="5217251" y="1738862"/>
            <a:ext cx="1234440" cy="6400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70%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4819430" y="2113251"/>
            <a:ext cx="1920240" cy="48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Avance Total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"/>
          <p:cNvSpPr/>
          <p:nvPr/>
        </p:nvSpPr>
        <p:spPr>
          <a:xfrm>
            <a:off x="6915448" y="1518890"/>
            <a:ext cx="1920240" cy="1386723"/>
          </a:xfrm>
          <a:prstGeom prst="roundRect">
            <a:avLst>
              <a:gd fmla="val 7692" name="adj"/>
            </a:avLst>
          </a:prstGeom>
          <a:solidFill>
            <a:srgbClr val="1565C0"/>
          </a:solidFill>
          <a:ln>
            <a:noFill/>
          </a:ln>
          <a:effectLst>
            <a:outerShdw blurRad="76200" rotWithShape="0" algn="bl" dir="2700000" dist="25400">
              <a:srgbClr val="000000">
                <a:alpha val="1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4" name="Google Shape;184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046396" y="1573563"/>
            <a:ext cx="385663" cy="385663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4"/>
          <p:cNvSpPr/>
          <p:nvPr/>
        </p:nvSpPr>
        <p:spPr>
          <a:xfrm>
            <a:off x="7258348" y="1686607"/>
            <a:ext cx="1234440" cy="6400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4"/>
          <p:cNvSpPr/>
          <p:nvPr/>
        </p:nvSpPr>
        <p:spPr>
          <a:xfrm>
            <a:off x="6942994" y="2081762"/>
            <a:ext cx="1920240" cy="48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Actores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508440" y="3445521"/>
            <a:ext cx="2743200" cy="347472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4"/>
          <p:cNvSpPr/>
          <p:nvPr/>
        </p:nvSpPr>
        <p:spPr>
          <a:xfrm>
            <a:off x="508440" y="3445521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Categoría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4"/>
          <p:cNvSpPr/>
          <p:nvPr/>
        </p:nvSpPr>
        <p:spPr>
          <a:xfrm>
            <a:off x="3297360" y="3445521"/>
            <a:ext cx="2926080" cy="347472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4"/>
          <p:cNvSpPr/>
          <p:nvPr/>
        </p:nvSpPr>
        <p:spPr>
          <a:xfrm>
            <a:off x="3297360" y="3445521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Casos de Uso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6269160" y="3445521"/>
            <a:ext cx="1188720" cy="347472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4"/>
          <p:cNvSpPr/>
          <p:nvPr/>
        </p:nvSpPr>
        <p:spPr>
          <a:xfrm>
            <a:off x="6269160" y="3445521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Prioridad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4"/>
          <p:cNvSpPr/>
          <p:nvPr/>
        </p:nvSpPr>
        <p:spPr>
          <a:xfrm>
            <a:off x="7503600" y="3445521"/>
            <a:ext cx="1188720" cy="347472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4"/>
          <p:cNvSpPr/>
          <p:nvPr/>
        </p:nvSpPr>
        <p:spPr>
          <a:xfrm>
            <a:off x="7503600" y="3445521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HH Est.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4"/>
          <p:cNvSpPr/>
          <p:nvPr/>
        </p:nvSpPr>
        <p:spPr>
          <a:xfrm>
            <a:off x="508440" y="3792993"/>
            <a:ext cx="2743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4"/>
          <p:cNvSpPr/>
          <p:nvPr/>
        </p:nvSpPr>
        <p:spPr>
          <a:xfrm>
            <a:off x="3297360" y="3792993"/>
            <a:ext cx="292608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4"/>
          <p:cNvSpPr/>
          <p:nvPr/>
        </p:nvSpPr>
        <p:spPr>
          <a:xfrm>
            <a:off x="6269160" y="3792993"/>
            <a:ext cx="118872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4"/>
          <p:cNvSpPr/>
          <p:nvPr/>
        </p:nvSpPr>
        <p:spPr>
          <a:xfrm>
            <a:off x="7503600" y="3792993"/>
            <a:ext cx="118872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4"/>
          <p:cNvSpPr/>
          <p:nvPr/>
        </p:nvSpPr>
        <p:spPr>
          <a:xfrm>
            <a:off x="508440" y="3792993"/>
            <a:ext cx="73152" cy="45720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4"/>
          <p:cNvSpPr/>
          <p:nvPr/>
        </p:nvSpPr>
        <p:spPr>
          <a:xfrm>
            <a:off x="645600" y="3792993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Recursos Humanos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4"/>
          <p:cNvSpPr/>
          <p:nvPr/>
        </p:nvSpPr>
        <p:spPr>
          <a:xfrm>
            <a:off x="3297360" y="3792993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CU 18, 19, 20, 21, 25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4"/>
          <p:cNvSpPr/>
          <p:nvPr/>
        </p:nvSpPr>
        <p:spPr>
          <a:xfrm>
            <a:off x="6269160" y="3792993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Alta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4"/>
          <p:cNvSpPr/>
          <p:nvPr/>
        </p:nvSpPr>
        <p:spPr>
          <a:xfrm>
            <a:off x="7503600" y="3792993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46 HH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4"/>
          <p:cNvSpPr/>
          <p:nvPr/>
        </p:nvSpPr>
        <p:spPr>
          <a:xfrm>
            <a:off x="508440" y="4295913"/>
            <a:ext cx="2743200" cy="457200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4"/>
          <p:cNvSpPr/>
          <p:nvPr/>
        </p:nvSpPr>
        <p:spPr>
          <a:xfrm>
            <a:off x="3297360" y="4295913"/>
            <a:ext cx="2926080" cy="457200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4"/>
          <p:cNvSpPr/>
          <p:nvPr/>
        </p:nvSpPr>
        <p:spPr>
          <a:xfrm>
            <a:off x="6269160" y="4295913"/>
            <a:ext cx="1188720" cy="457200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4"/>
          <p:cNvSpPr/>
          <p:nvPr/>
        </p:nvSpPr>
        <p:spPr>
          <a:xfrm>
            <a:off x="7503600" y="4295913"/>
            <a:ext cx="1188720" cy="457200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4"/>
          <p:cNvSpPr/>
          <p:nvPr/>
        </p:nvSpPr>
        <p:spPr>
          <a:xfrm>
            <a:off x="508440" y="4295913"/>
            <a:ext cx="73152" cy="457200"/>
          </a:xfrm>
          <a:prstGeom prst="rect">
            <a:avLst/>
          </a:prstGeom>
          <a:solidFill>
            <a:srgbClr val="0288D1"/>
          </a:solidFill>
          <a:ln cap="flat" cmpd="sng" w="12700">
            <a:solidFill>
              <a:srgbClr val="0288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4"/>
          <p:cNvSpPr/>
          <p:nvPr/>
        </p:nvSpPr>
        <p:spPr>
          <a:xfrm>
            <a:off x="645600" y="4295913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Prevención y EPP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4"/>
          <p:cNvSpPr/>
          <p:nvPr/>
        </p:nvSpPr>
        <p:spPr>
          <a:xfrm>
            <a:off x="3297360" y="4295913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CU 22, 23, 24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4"/>
          <p:cNvSpPr/>
          <p:nvPr/>
        </p:nvSpPr>
        <p:spPr>
          <a:xfrm>
            <a:off x="6269160" y="4295913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Alta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4"/>
          <p:cNvSpPr/>
          <p:nvPr/>
        </p:nvSpPr>
        <p:spPr>
          <a:xfrm>
            <a:off x="7503600" y="4295913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32 HH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4"/>
          <p:cNvSpPr/>
          <p:nvPr/>
        </p:nvSpPr>
        <p:spPr>
          <a:xfrm>
            <a:off x="508440" y="4798833"/>
            <a:ext cx="2743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4"/>
          <p:cNvSpPr/>
          <p:nvPr/>
        </p:nvSpPr>
        <p:spPr>
          <a:xfrm>
            <a:off x="3297360" y="4798833"/>
            <a:ext cx="292608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4"/>
          <p:cNvSpPr/>
          <p:nvPr/>
        </p:nvSpPr>
        <p:spPr>
          <a:xfrm>
            <a:off x="6269160" y="4798833"/>
            <a:ext cx="118872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4"/>
          <p:cNvSpPr/>
          <p:nvPr/>
        </p:nvSpPr>
        <p:spPr>
          <a:xfrm>
            <a:off x="7503600" y="4798833"/>
            <a:ext cx="118872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4"/>
          <p:cNvSpPr/>
          <p:nvPr/>
        </p:nvSpPr>
        <p:spPr>
          <a:xfrm>
            <a:off x="508440" y="4798833"/>
            <a:ext cx="73152" cy="457200"/>
          </a:xfrm>
          <a:prstGeom prst="rect">
            <a:avLst/>
          </a:prstGeom>
          <a:solidFill>
            <a:srgbClr val="0277BD"/>
          </a:solidFill>
          <a:ln cap="flat" cmpd="sng" w="12700">
            <a:solidFill>
              <a:srgbClr val="0277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4"/>
          <p:cNvSpPr/>
          <p:nvPr/>
        </p:nvSpPr>
        <p:spPr>
          <a:xfrm>
            <a:off x="645600" y="4798833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Catálogo y Solicitudes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4"/>
          <p:cNvSpPr/>
          <p:nvPr/>
        </p:nvSpPr>
        <p:spPr>
          <a:xfrm>
            <a:off x="3297360" y="4798833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CU 26, 27, 28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4"/>
          <p:cNvSpPr/>
          <p:nvPr/>
        </p:nvSpPr>
        <p:spPr>
          <a:xfrm>
            <a:off x="6269160" y="4798833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Media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4"/>
          <p:cNvSpPr/>
          <p:nvPr/>
        </p:nvSpPr>
        <p:spPr>
          <a:xfrm>
            <a:off x="7503600" y="4798833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32 HH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4"/>
          <p:cNvSpPr/>
          <p:nvPr/>
        </p:nvSpPr>
        <p:spPr>
          <a:xfrm>
            <a:off x="508440" y="5301753"/>
            <a:ext cx="2743200" cy="457200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4"/>
          <p:cNvSpPr/>
          <p:nvPr/>
        </p:nvSpPr>
        <p:spPr>
          <a:xfrm>
            <a:off x="3297360" y="5301753"/>
            <a:ext cx="2926080" cy="457200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4"/>
          <p:cNvSpPr/>
          <p:nvPr/>
        </p:nvSpPr>
        <p:spPr>
          <a:xfrm>
            <a:off x="6269160" y="5301753"/>
            <a:ext cx="1188720" cy="457200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4"/>
          <p:cNvSpPr/>
          <p:nvPr/>
        </p:nvSpPr>
        <p:spPr>
          <a:xfrm>
            <a:off x="7503600" y="5301753"/>
            <a:ext cx="1188720" cy="457200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4"/>
          <p:cNvSpPr/>
          <p:nvPr/>
        </p:nvSpPr>
        <p:spPr>
          <a:xfrm>
            <a:off x="508440" y="5301753"/>
            <a:ext cx="73152" cy="457200"/>
          </a:xfrm>
          <a:prstGeom prst="rect">
            <a:avLst/>
          </a:prstGeom>
          <a:solidFill>
            <a:srgbClr val="006064"/>
          </a:solidFill>
          <a:ln cap="flat" cmpd="sng" w="12700">
            <a:solidFill>
              <a:srgbClr val="0060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4"/>
          <p:cNvSpPr/>
          <p:nvPr/>
        </p:nvSpPr>
        <p:spPr>
          <a:xfrm>
            <a:off x="645600" y="5301753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Logística e Inventario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4"/>
          <p:cNvSpPr/>
          <p:nvPr/>
        </p:nvSpPr>
        <p:spPr>
          <a:xfrm>
            <a:off x="3297360" y="5301753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CU 29, 30, 31, 32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4"/>
          <p:cNvSpPr/>
          <p:nvPr/>
        </p:nvSpPr>
        <p:spPr>
          <a:xfrm>
            <a:off x="6269160" y="5301753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Media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4"/>
          <p:cNvSpPr/>
          <p:nvPr/>
        </p:nvSpPr>
        <p:spPr>
          <a:xfrm>
            <a:off x="7503600" y="5301753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42 HH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4"/>
          <p:cNvSpPr/>
          <p:nvPr/>
        </p:nvSpPr>
        <p:spPr>
          <a:xfrm>
            <a:off x="508440" y="5804673"/>
            <a:ext cx="2743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4"/>
          <p:cNvSpPr/>
          <p:nvPr/>
        </p:nvSpPr>
        <p:spPr>
          <a:xfrm>
            <a:off x="3297360" y="5804673"/>
            <a:ext cx="292608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4"/>
          <p:cNvSpPr/>
          <p:nvPr/>
        </p:nvSpPr>
        <p:spPr>
          <a:xfrm>
            <a:off x="6269160" y="5804673"/>
            <a:ext cx="118872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4"/>
          <p:cNvSpPr/>
          <p:nvPr/>
        </p:nvSpPr>
        <p:spPr>
          <a:xfrm>
            <a:off x="7503600" y="5804673"/>
            <a:ext cx="118872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4"/>
          <p:cNvSpPr/>
          <p:nvPr/>
        </p:nvSpPr>
        <p:spPr>
          <a:xfrm>
            <a:off x="508440" y="5804673"/>
            <a:ext cx="73152" cy="457200"/>
          </a:xfrm>
          <a:prstGeom prst="rect">
            <a:avLst/>
          </a:prstGeom>
          <a:solidFill>
            <a:srgbClr val="0277BD"/>
          </a:solidFill>
          <a:ln cap="flat" cmpd="sng" w="12700">
            <a:solidFill>
              <a:srgbClr val="0277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4"/>
          <p:cNvSpPr/>
          <p:nvPr/>
        </p:nvSpPr>
        <p:spPr>
          <a:xfrm>
            <a:off x="645600" y="5804673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Equipos y Compras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4"/>
          <p:cNvSpPr/>
          <p:nvPr/>
        </p:nvSpPr>
        <p:spPr>
          <a:xfrm>
            <a:off x="3297360" y="5804673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CU 33, 36, 38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4"/>
          <p:cNvSpPr/>
          <p:nvPr/>
        </p:nvSpPr>
        <p:spPr>
          <a:xfrm>
            <a:off x="6269160" y="5804673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Baja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4"/>
          <p:cNvSpPr/>
          <p:nvPr/>
        </p:nvSpPr>
        <p:spPr>
          <a:xfrm>
            <a:off x="7503600" y="5804673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24 HH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5"/>
          <p:cNvPicPr preferRelativeResize="0"/>
          <p:nvPr/>
        </p:nvPicPr>
        <p:blipFill rotWithShape="1">
          <a:blip r:embed="rId3">
            <a:alphaModFix/>
          </a:blip>
          <a:srcRect b="51651" l="-153" r="153" t="20538"/>
          <a:stretch/>
        </p:blipFill>
        <p:spPr>
          <a:xfrm>
            <a:off x="-14013" y="1"/>
            <a:ext cx="9172026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5"/>
          <p:cNvSpPr txBox="1"/>
          <p:nvPr/>
        </p:nvSpPr>
        <p:spPr>
          <a:xfrm>
            <a:off x="108721" y="122611"/>
            <a:ext cx="8207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1" lang="en-US" sz="2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 29: Asignando y Trazando Herramientas</a:t>
            </a:r>
            <a:endParaRPr b="1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9" name="Google Shape;239;p5"/>
          <p:cNvSpPr/>
          <p:nvPr/>
        </p:nvSpPr>
        <p:spPr>
          <a:xfrm>
            <a:off x="274320" y="1143000"/>
            <a:ext cx="3931920" cy="731520"/>
          </a:xfrm>
          <a:prstGeom prst="roundRect">
            <a:avLst>
              <a:gd fmla="val 12500" name="adj"/>
            </a:avLst>
          </a:prstGeom>
          <a:solidFill>
            <a:srgbClr val="1A2744"/>
          </a:solidFill>
          <a:ln cap="flat" cmpd="sng" w="19050">
            <a:solidFill>
              <a:srgbClr val="FFB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0" name="Google Shape;24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920" y="126187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5"/>
          <p:cNvSpPr/>
          <p:nvPr/>
        </p:nvSpPr>
        <p:spPr>
          <a:xfrm>
            <a:off x="1005840" y="118872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¿Por qué es Destacado en nuestro ERP?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5"/>
          <p:cNvSpPr/>
          <p:nvPr/>
        </p:nvSpPr>
        <p:spPr>
          <a:xfrm>
            <a:off x="1005840" y="150876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Trazabilidad por RUT, estado e historial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5"/>
          <p:cNvSpPr/>
          <p:nvPr/>
        </p:nvSpPr>
        <p:spPr>
          <a:xfrm>
            <a:off x="274320" y="201168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8D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0288D1"/>
                </a:solidFill>
                <a:latin typeface="Arial"/>
                <a:ea typeface="Arial"/>
                <a:cs typeface="Arial"/>
                <a:sym typeface="Arial"/>
              </a:rPr>
              <a:t>FLUJO PRINCIPAL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5"/>
          <p:cNvSpPr/>
          <p:nvPr/>
        </p:nvSpPr>
        <p:spPr>
          <a:xfrm>
            <a:off x="4389120" y="1143000"/>
            <a:ext cx="4480560" cy="1161288"/>
          </a:xfrm>
          <a:prstGeom prst="roundRect">
            <a:avLst>
              <a:gd fmla="val 6250" name="adj"/>
            </a:avLst>
          </a:prstGeom>
          <a:solidFill>
            <a:srgbClr val="1A2744"/>
          </a:solidFill>
          <a:ln cap="flat" cmpd="sng" w="12700">
            <a:solidFill>
              <a:srgbClr val="0288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5"/>
          <p:cNvSpPr/>
          <p:nvPr/>
        </p:nvSpPr>
        <p:spPr>
          <a:xfrm>
            <a:off x="4526280" y="1207008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8D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0288D1"/>
                </a:solidFill>
                <a:latin typeface="Arial"/>
                <a:ea typeface="Arial"/>
                <a:cs typeface="Arial"/>
                <a:sym typeface="Arial"/>
              </a:rPr>
              <a:t>DETALLES TÉCNICOS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5"/>
          <p:cNvSpPr/>
          <p:nvPr/>
        </p:nvSpPr>
        <p:spPr>
          <a:xfrm>
            <a:off x="4526280" y="1347677"/>
            <a:ext cx="4206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Actor:</a:t>
            </a:r>
            <a:r>
              <a:rPr lang="en-US" sz="105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  Administrador Total / Supervisor de Obra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Dependencia:</a:t>
            </a:r>
            <a:r>
              <a:rPr lang="en-US" sz="105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  UR-F-33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Tecnología:</a:t>
            </a:r>
            <a:r>
              <a:rPr lang="en-US" sz="105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  React + Express + Sequelize + MySQL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Frecuencia:</a:t>
            </a:r>
            <a:r>
              <a:rPr lang="en-US" sz="105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  Cada entrega o devolución de equipo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5"/>
          <p:cNvSpPr/>
          <p:nvPr/>
        </p:nvSpPr>
        <p:spPr>
          <a:xfrm>
            <a:off x="4389120" y="2444957"/>
            <a:ext cx="4480560" cy="1280160"/>
          </a:xfrm>
          <a:prstGeom prst="roundRect">
            <a:avLst>
              <a:gd fmla="val 7143" name="adj"/>
            </a:avLst>
          </a:prstGeom>
          <a:solidFill>
            <a:srgbClr val="1A2744"/>
          </a:solidFill>
          <a:ln cap="flat" cmpd="sng" w="12700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8" name="Google Shape;248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26280" y="2518109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5"/>
          <p:cNvSpPr/>
          <p:nvPr/>
        </p:nvSpPr>
        <p:spPr>
          <a:xfrm>
            <a:off x="4937760" y="2518109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E53935"/>
                </a:solidFill>
                <a:latin typeface="Arial"/>
                <a:ea typeface="Arial"/>
                <a:cs typeface="Arial"/>
                <a:sym typeface="Arial"/>
              </a:rPr>
              <a:t>EXCEPCIONES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5"/>
          <p:cNvSpPr/>
          <p:nvPr/>
        </p:nvSpPr>
        <p:spPr>
          <a:xfrm>
            <a:off x="4526280" y="2902157"/>
            <a:ext cx="4206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Herramienta no disponible: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El equipo ya está asignado o está en mantenimiento.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Técnico sin contrato vigente: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Se informa la fecha de vencimiento y se bloquea.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5"/>
          <p:cNvSpPr/>
          <p:nvPr/>
        </p:nvSpPr>
        <p:spPr>
          <a:xfrm>
            <a:off x="4389120" y="3865786"/>
            <a:ext cx="4480560" cy="777240"/>
          </a:xfrm>
          <a:prstGeom prst="roundRect">
            <a:avLst>
              <a:gd fmla="val 11765" name="adj"/>
            </a:avLst>
          </a:prstGeom>
          <a:solidFill>
            <a:srgbClr val="1B5E20">
              <a:alpha val="90196"/>
            </a:srgbClr>
          </a:solidFill>
          <a:ln cap="flat" cmpd="sng" w="12700">
            <a:solidFill>
              <a:srgbClr val="66BB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5"/>
          <p:cNvSpPr/>
          <p:nvPr/>
        </p:nvSpPr>
        <p:spPr>
          <a:xfrm>
            <a:off x="4526280" y="3938938"/>
            <a:ext cx="4206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POSTCONDICIÓN: Herramienta vinculada al RUT del técnico, con historial de fecha y estado de entrega y devolución.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3" name="Google Shape;253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1460" y="5012733"/>
            <a:ext cx="3977640" cy="1404534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5"/>
          <p:cNvSpPr/>
          <p:nvPr/>
        </p:nvSpPr>
        <p:spPr>
          <a:xfrm>
            <a:off x="274320" y="2304288"/>
            <a:ext cx="4023360" cy="329184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5"/>
          <p:cNvSpPr/>
          <p:nvPr/>
        </p:nvSpPr>
        <p:spPr>
          <a:xfrm>
            <a:off x="365760" y="2304288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1. Actor ingresa al módulo “Herramientas”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5"/>
          <p:cNvSpPr/>
          <p:nvPr/>
        </p:nvSpPr>
        <p:spPr>
          <a:xfrm>
            <a:off x="274320" y="2670048"/>
            <a:ext cx="4023360" cy="329184"/>
          </a:xfrm>
          <a:prstGeom prst="roundRect">
            <a:avLst>
              <a:gd fmla="val 11111" name="adj"/>
            </a:avLst>
          </a:prstGeom>
          <a:solidFill>
            <a:srgbClr val="E3F2FD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5"/>
          <p:cNvSpPr/>
          <p:nvPr/>
        </p:nvSpPr>
        <p:spPr>
          <a:xfrm>
            <a:off x="365760" y="2670048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2. Sistema despliega inventario y estado de equipos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5"/>
          <p:cNvSpPr/>
          <p:nvPr/>
        </p:nvSpPr>
        <p:spPr>
          <a:xfrm>
            <a:off x="274320" y="3035808"/>
            <a:ext cx="4023360" cy="329184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5"/>
          <p:cNvSpPr/>
          <p:nvPr/>
        </p:nvSpPr>
        <p:spPr>
          <a:xfrm>
            <a:off x="365760" y="3035808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3. Actor selecciona herramienta, técnico y estado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5"/>
          <p:cNvSpPr/>
          <p:nvPr/>
        </p:nvSpPr>
        <p:spPr>
          <a:xfrm>
            <a:off x="274320" y="3401568"/>
            <a:ext cx="4023360" cy="329184"/>
          </a:xfrm>
          <a:prstGeom prst="roundRect">
            <a:avLst>
              <a:gd fmla="val 11111" name="adj"/>
            </a:avLst>
          </a:prstGeom>
          <a:solidFill>
            <a:srgbClr val="E3F2FD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5"/>
          <p:cNvSpPr/>
          <p:nvPr/>
        </p:nvSpPr>
        <p:spPr>
          <a:xfrm>
            <a:off x="365760" y="3401568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4. Sistema valida RUT activo y contrato vigente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5"/>
          <p:cNvSpPr/>
          <p:nvPr/>
        </p:nvSpPr>
        <p:spPr>
          <a:xfrm>
            <a:off x="274320" y="3767328"/>
            <a:ext cx="4023360" cy="329184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5"/>
          <p:cNvSpPr/>
          <p:nvPr/>
        </p:nvSpPr>
        <p:spPr>
          <a:xfrm>
            <a:off x="365760" y="3767328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5. Sistema marca “Asignada” y registra la entrega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5"/>
          <p:cNvSpPr/>
          <p:nvPr/>
        </p:nvSpPr>
        <p:spPr>
          <a:xfrm>
            <a:off x="274320" y="4133088"/>
            <a:ext cx="4023360" cy="329184"/>
          </a:xfrm>
          <a:prstGeom prst="roundRect">
            <a:avLst>
              <a:gd fmla="val 11111" name="adj"/>
            </a:avLst>
          </a:prstGeom>
          <a:solidFill>
            <a:srgbClr val="E3F2FD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5"/>
          <p:cNvSpPr/>
          <p:nvPr/>
        </p:nvSpPr>
        <p:spPr>
          <a:xfrm>
            <a:off x="365760" y="4133088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6. Actor registra devolución con estado del equipo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5"/>
          <p:cNvSpPr/>
          <p:nvPr/>
        </p:nvSpPr>
        <p:spPr>
          <a:xfrm>
            <a:off x="274320" y="4498848"/>
            <a:ext cx="4023360" cy="329184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5"/>
          <p:cNvSpPr/>
          <p:nvPr/>
        </p:nvSpPr>
        <p:spPr>
          <a:xfrm>
            <a:off x="365760" y="4498848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7. Sistema cierra asignación y actualiza historial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8" name="Google Shape;268;p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109032" y="4643025"/>
            <a:ext cx="3206991" cy="21379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6"/>
          <p:cNvPicPr preferRelativeResize="0"/>
          <p:nvPr/>
        </p:nvPicPr>
        <p:blipFill rotWithShape="1">
          <a:blip r:embed="rId3">
            <a:alphaModFix/>
          </a:blip>
          <a:srcRect b="51651" l="-150" r="150" t="20538"/>
          <a:stretch/>
        </p:blipFill>
        <p:spPr>
          <a:xfrm>
            <a:off x="-14013" y="1"/>
            <a:ext cx="9172027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6"/>
          <p:cNvSpPr txBox="1"/>
          <p:nvPr/>
        </p:nvSpPr>
        <p:spPr>
          <a:xfrm>
            <a:off x="108721" y="89553"/>
            <a:ext cx="780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1" lang="en-US" sz="2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 29: Diagrama de Secuencia</a:t>
            </a:r>
            <a:endParaRPr b="1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77" name="Google Shape;277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" y="1005840"/>
            <a:ext cx="8229600" cy="548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7"/>
          <p:cNvPicPr preferRelativeResize="0"/>
          <p:nvPr/>
        </p:nvPicPr>
        <p:blipFill rotWithShape="1">
          <a:blip r:embed="rId3">
            <a:alphaModFix/>
          </a:blip>
          <a:srcRect b="51651" l="-153" r="153" t="20538"/>
          <a:stretch/>
        </p:blipFill>
        <p:spPr>
          <a:xfrm>
            <a:off x="-14013" y="1"/>
            <a:ext cx="9172026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7"/>
          <p:cNvSpPr txBox="1"/>
          <p:nvPr/>
        </p:nvSpPr>
        <p:spPr>
          <a:xfrm>
            <a:off x="108721" y="89553"/>
            <a:ext cx="8207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1" lang="en-US" sz="2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Captura de Trazabilidad de Herramientas</a:t>
            </a:r>
            <a:endParaRPr b="1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86" name="Google Shape;286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" y="1862500"/>
            <a:ext cx="8229600" cy="3935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9"/>
          <p:cNvPicPr preferRelativeResize="0"/>
          <p:nvPr/>
        </p:nvPicPr>
        <p:blipFill rotWithShape="1">
          <a:blip r:embed="rId3">
            <a:alphaModFix/>
          </a:blip>
          <a:srcRect b="51651" l="-153" r="153" t="20538"/>
          <a:stretch/>
        </p:blipFill>
        <p:spPr>
          <a:xfrm>
            <a:off x="-14013" y="1"/>
            <a:ext cx="9172026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" y="1005840"/>
            <a:ext cx="8229600" cy="5486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9"/>
          <p:cNvSpPr txBox="1"/>
          <p:nvPr/>
        </p:nvSpPr>
        <p:spPr>
          <a:xfrm>
            <a:off x="108721" y="89553"/>
            <a:ext cx="820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1" lang="en-US" sz="2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 24: Diagrama de Secuencia</a:t>
            </a:r>
            <a:endParaRPr b="1"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350;p10"/>
          <p:cNvPicPr preferRelativeResize="0"/>
          <p:nvPr/>
        </p:nvPicPr>
        <p:blipFill rotWithShape="1">
          <a:blip r:embed="rId3">
            <a:alphaModFix/>
          </a:blip>
          <a:srcRect b="51651" l="-153" r="153" t="20538"/>
          <a:stretch/>
        </p:blipFill>
        <p:spPr>
          <a:xfrm>
            <a:off x="-14013" y="1"/>
            <a:ext cx="9172026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10"/>
          <p:cNvSpPr txBox="1"/>
          <p:nvPr/>
        </p:nvSpPr>
        <p:spPr>
          <a:xfrm>
            <a:off x="108721" y="89553"/>
            <a:ext cx="820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1" lang="en-US" sz="2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Captura de Firma Digital de Documentos</a:t>
            </a:r>
            <a:endParaRPr b="1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53" name="Google Shape;353;p10"/>
          <p:cNvPicPr preferRelativeResize="0"/>
          <p:nvPr/>
        </p:nvPicPr>
        <p:blipFill rotWithShape="1">
          <a:blip r:embed="rId5">
            <a:alphaModFix/>
          </a:blip>
          <a:srcRect b="0" l="0" r="21685" t="0"/>
          <a:stretch/>
        </p:blipFill>
        <p:spPr>
          <a:xfrm>
            <a:off x="457200" y="1860800"/>
            <a:ext cx="8229600" cy="393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Google Shape;359;p11"/>
          <p:cNvPicPr preferRelativeResize="0"/>
          <p:nvPr/>
        </p:nvPicPr>
        <p:blipFill rotWithShape="1">
          <a:blip r:embed="rId3">
            <a:alphaModFix/>
          </a:blip>
          <a:srcRect b="51651" l="-153" r="153" t="20538"/>
          <a:stretch/>
        </p:blipFill>
        <p:spPr>
          <a:xfrm>
            <a:off x="-14013" y="1"/>
            <a:ext cx="9172026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11"/>
          <p:cNvSpPr txBox="1"/>
          <p:nvPr/>
        </p:nvSpPr>
        <p:spPr>
          <a:xfrm>
            <a:off x="108722" y="158734"/>
            <a:ext cx="8207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1" lang="en-US" sz="2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Vistas Arquitectónicas 4+1</a:t>
            </a:r>
            <a:endParaRPr b="1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2" name="Google Shape;362;p11"/>
          <p:cNvSpPr/>
          <p:nvPr/>
        </p:nvSpPr>
        <p:spPr>
          <a:xfrm>
            <a:off x="341884" y="1825313"/>
            <a:ext cx="2606040" cy="1691640"/>
          </a:xfrm>
          <a:prstGeom prst="roundRect">
            <a:avLst>
              <a:gd fmla="val 6486" name="adj"/>
            </a:avLst>
          </a:prstGeom>
          <a:solidFill>
            <a:srgbClr val="1A2744"/>
          </a:solidFill>
          <a:ln cap="flat" cmpd="sng" w="1905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3" name="Google Shape;363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142" y="1889321"/>
            <a:ext cx="393192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11"/>
          <p:cNvSpPr/>
          <p:nvPr/>
        </p:nvSpPr>
        <p:spPr>
          <a:xfrm>
            <a:off x="341884" y="2168213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Vista Lógica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1"/>
          <p:cNvSpPr/>
          <p:nvPr/>
        </p:nvSpPr>
        <p:spPr>
          <a:xfrm>
            <a:off x="341884" y="2556833"/>
            <a:ext cx="2606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Diagrama de clases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Modelo BD MySQL (3FN)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1"/>
          <p:cNvSpPr/>
          <p:nvPr/>
        </p:nvSpPr>
        <p:spPr>
          <a:xfrm>
            <a:off x="3222244" y="1825313"/>
            <a:ext cx="2606040" cy="1691640"/>
          </a:xfrm>
          <a:prstGeom prst="roundRect">
            <a:avLst>
              <a:gd fmla="val 6486" name="adj"/>
            </a:avLst>
          </a:prstGeom>
          <a:solidFill>
            <a:srgbClr val="1A2744"/>
          </a:solidFill>
          <a:ln cap="flat" cmpd="sng" w="19050">
            <a:solidFill>
              <a:srgbClr val="008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7" name="Google Shape;367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58820" y="1911223"/>
            <a:ext cx="333248" cy="333248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11"/>
          <p:cNvSpPr/>
          <p:nvPr/>
        </p:nvSpPr>
        <p:spPr>
          <a:xfrm>
            <a:off x="3222244" y="2167680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Vista de Proceso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1"/>
          <p:cNvSpPr/>
          <p:nvPr/>
        </p:nvSpPr>
        <p:spPr>
          <a:xfrm>
            <a:off x="3222244" y="2556833"/>
            <a:ext cx="2606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35 Diagramas de secuencia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(uno por CU)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1"/>
          <p:cNvSpPr/>
          <p:nvPr/>
        </p:nvSpPr>
        <p:spPr>
          <a:xfrm>
            <a:off x="6102604" y="1825313"/>
            <a:ext cx="2606040" cy="1691640"/>
          </a:xfrm>
          <a:prstGeom prst="roundRect">
            <a:avLst>
              <a:gd fmla="val 6486" name="adj"/>
            </a:avLst>
          </a:prstGeom>
          <a:solidFill>
            <a:srgbClr val="1A2744"/>
          </a:solidFill>
          <a:ln cap="flat" cmpd="sng" w="1905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1" name="Google Shape;371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52896" y="1871033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11"/>
          <p:cNvSpPr/>
          <p:nvPr/>
        </p:nvSpPr>
        <p:spPr>
          <a:xfrm>
            <a:off x="6102604" y="2145353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Vista Desarrollo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1"/>
          <p:cNvSpPr/>
          <p:nvPr/>
        </p:nvSpPr>
        <p:spPr>
          <a:xfrm>
            <a:off x="6102604" y="2556833"/>
            <a:ext cx="2606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Diagrama de componentes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React + Node + MySQL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1"/>
          <p:cNvSpPr/>
          <p:nvPr/>
        </p:nvSpPr>
        <p:spPr>
          <a:xfrm>
            <a:off x="1654578" y="3981606"/>
            <a:ext cx="2606040" cy="1691640"/>
          </a:xfrm>
          <a:prstGeom prst="roundRect">
            <a:avLst>
              <a:gd fmla="val 6486" name="adj"/>
            </a:avLst>
          </a:prstGeom>
          <a:solidFill>
            <a:srgbClr val="1A2744"/>
          </a:solidFill>
          <a:ln cap="flat" cmpd="sng" w="19050">
            <a:solidFill>
              <a:srgbClr val="B7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5" name="Google Shape;375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74650" y="4084741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11"/>
          <p:cNvSpPr/>
          <p:nvPr/>
        </p:nvSpPr>
        <p:spPr>
          <a:xfrm>
            <a:off x="1654578" y="4210726"/>
            <a:ext cx="2606040" cy="595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Vista Física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1"/>
          <p:cNvSpPr/>
          <p:nvPr/>
        </p:nvSpPr>
        <p:spPr>
          <a:xfrm>
            <a:off x="1674650" y="4621686"/>
            <a:ext cx="2585967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Diagrama de despliegue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VPS + Nginx + Ubuntu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1"/>
          <p:cNvSpPr/>
          <p:nvPr/>
        </p:nvSpPr>
        <p:spPr>
          <a:xfrm>
            <a:off x="4964176" y="4007592"/>
            <a:ext cx="2606040" cy="1691640"/>
          </a:xfrm>
          <a:prstGeom prst="roundRect">
            <a:avLst>
              <a:gd fmla="val 6486" name="adj"/>
            </a:avLst>
          </a:prstGeom>
          <a:solidFill>
            <a:srgbClr val="1A2744"/>
          </a:solidFill>
          <a:ln cap="flat" cmpd="sng" w="1905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9" name="Google Shape;379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049023" y="4053323"/>
            <a:ext cx="429768" cy="429768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11"/>
          <p:cNvSpPr/>
          <p:nvPr/>
        </p:nvSpPr>
        <p:spPr>
          <a:xfrm>
            <a:off x="4964176" y="4369508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Vista Externa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1"/>
          <p:cNvSpPr/>
          <p:nvPr/>
        </p:nvSpPr>
        <p:spPr>
          <a:xfrm>
            <a:off x="4991608" y="4692449"/>
            <a:ext cx="2606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Casos de Uso extendidos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(35 CU acumulados)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13"/>
          <p:cNvPicPr preferRelativeResize="0"/>
          <p:nvPr/>
        </p:nvPicPr>
        <p:blipFill rotWithShape="1">
          <a:blip r:embed="rId3">
            <a:alphaModFix/>
          </a:blip>
          <a:srcRect b="51651" l="-153" r="153" t="20538"/>
          <a:stretch/>
        </p:blipFill>
        <p:spPr>
          <a:xfrm>
            <a:off x="-14013" y="1"/>
            <a:ext cx="9172026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13"/>
          <p:cNvSpPr txBox="1"/>
          <p:nvPr/>
        </p:nvSpPr>
        <p:spPr>
          <a:xfrm>
            <a:off x="108721" y="158703"/>
            <a:ext cx="820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1" lang="en-US" sz="2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Pruebas del sistema</a:t>
            </a:r>
            <a:endParaRPr b="1"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390" name="Google Shape;390;p13"/>
          <p:cNvGrpSpPr/>
          <p:nvPr/>
        </p:nvGrpSpPr>
        <p:grpSpPr>
          <a:xfrm>
            <a:off x="108721" y="1133856"/>
            <a:ext cx="4280399" cy="5504688"/>
            <a:chOff x="274320" y="1417320"/>
            <a:chExt cx="4114800" cy="3474720"/>
          </a:xfrm>
        </p:grpSpPr>
        <p:sp>
          <p:nvSpPr>
            <p:cNvPr id="391" name="Google Shape;391;p13"/>
            <p:cNvSpPr/>
            <p:nvPr/>
          </p:nvSpPr>
          <p:spPr>
            <a:xfrm>
              <a:off x="274320" y="1417320"/>
              <a:ext cx="4114800" cy="3474720"/>
            </a:xfrm>
            <a:prstGeom prst="roundRect">
              <a:avLst>
                <a:gd fmla="val 3158" name="adj"/>
              </a:avLst>
            </a:prstGeom>
            <a:solidFill>
              <a:srgbClr val="1A2744"/>
            </a:solidFill>
            <a:ln cap="flat" cmpd="sng" w="12700">
              <a:solidFill>
                <a:srgbClr val="0288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13"/>
            <p:cNvSpPr/>
            <p:nvPr/>
          </p:nvSpPr>
          <p:spPr>
            <a:xfrm>
              <a:off x="457200" y="1508760"/>
              <a:ext cx="3749040" cy="32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288D1"/>
                </a:buClr>
                <a:buSzPts val="1100"/>
                <a:buFont typeface="Arial"/>
                <a:buNone/>
              </a:pPr>
              <a:r>
                <a:rPr b="1" lang="en-US" sz="1100">
                  <a:solidFill>
                    <a:srgbClr val="0288D1"/>
                  </a:solidFill>
                  <a:latin typeface="Arial"/>
                  <a:ea typeface="Arial"/>
                  <a:cs typeface="Arial"/>
                  <a:sym typeface="Arial"/>
                </a:rPr>
                <a:t>ESTRUCTURA DE CADA PRUEBA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13"/>
            <p:cNvSpPr/>
            <p:nvPr/>
          </p:nvSpPr>
          <p:spPr>
            <a:xfrm>
              <a:off x="365760" y="1920240"/>
              <a:ext cx="3931920" cy="384048"/>
            </a:xfrm>
            <a:prstGeom prst="rect">
              <a:avLst/>
            </a:prstGeom>
            <a:solidFill>
              <a:srgbClr val="1A2744"/>
            </a:solidFill>
            <a:ln cap="flat" cmpd="sng" w="9525">
              <a:solidFill>
                <a:srgbClr val="0288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13"/>
            <p:cNvSpPr/>
            <p:nvPr/>
          </p:nvSpPr>
          <p:spPr>
            <a:xfrm>
              <a:off x="457200" y="1920240"/>
              <a:ext cx="1463040" cy="384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B300"/>
                </a:buClr>
                <a:buSzPts val="1000"/>
                <a:buFont typeface="Arial"/>
                <a:buNone/>
              </a:pPr>
              <a:r>
                <a:rPr b="1" lang="en-US" sz="1000">
                  <a:solidFill>
                    <a:srgbClr val="FFB300"/>
                  </a:solidFill>
                  <a:latin typeface="Arial"/>
                  <a:ea typeface="Arial"/>
                  <a:cs typeface="Arial"/>
                  <a:sym typeface="Arial"/>
                </a:rPr>
                <a:t>ID Prueba: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p13"/>
            <p:cNvSpPr/>
            <p:nvPr/>
          </p:nvSpPr>
          <p:spPr>
            <a:xfrm>
              <a:off x="1920240" y="1920240"/>
              <a:ext cx="2286000" cy="384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PT-XX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p13"/>
            <p:cNvSpPr/>
            <p:nvPr/>
          </p:nvSpPr>
          <p:spPr>
            <a:xfrm>
              <a:off x="365760" y="2340864"/>
              <a:ext cx="3931920" cy="384048"/>
            </a:xfrm>
            <a:prstGeom prst="rect">
              <a:avLst/>
            </a:prstGeom>
            <a:solidFill>
              <a:srgbClr val="1F2E4A"/>
            </a:solidFill>
            <a:ln cap="flat" cmpd="sng" w="9525">
              <a:solidFill>
                <a:srgbClr val="0288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13"/>
            <p:cNvSpPr/>
            <p:nvPr/>
          </p:nvSpPr>
          <p:spPr>
            <a:xfrm>
              <a:off x="457200" y="2340864"/>
              <a:ext cx="1463040" cy="384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B300"/>
                </a:buClr>
                <a:buSzPts val="1000"/>
                <a:buFont typeface="Arial"/>
                <a:buNone/>
              </a:pPr>
              <a:r>
                <a:rPr b="1" lang="en-US" sz="1000">
                  <a:solidFill>
                    <a:srgbClr val="FFB300"/>
                  </a:solidFill>
                  <a:latin typeface="Arial"/>
                  <a:ea typeface="Arial"/>
                  <a:cs typeface="Arial"/>
                  <a:sym typeface="Arial"/>
                </a:rPr>
                <a:t>CU Asociado: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13"/>
            <p:cNvSpPr/>
            <p:nvPr/>
          </p:nvSpPr>
          <p:spPr>
            <a:xfrm>
              <a:off x="1920240" y="2340864"/>
              <a:ext cx="2286000" cy="384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CU XX: Nombre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p13"/>
            <p:cNvSpPr/>
            <p:nvPr/>
          </p:nvSpPr>
          <p:spPr>
            <a:xfrm>
              <a:off x="365760" y="2761488"/>
              <a:ext cx="3931920" cy="384048"/>
            </a:xfrm>
            <a:prstGeom prst="rect">
              <a:avLst/>
            </a:prstGeom>
            <a:solidFill>
              <a:srgbClr val="1A2744"/>
            </a:solidFill>
            <a:ln cap="flat" cmpd="sng" w="9525">
              <a:solidFill>
                <a:srgbClr val="0288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13"/>
            <p:cNvSpPr/>
            <p:nvPr/>
          </p:nvSpPr>
          <p:spPr>
            <a:xfrm>
              <a:off x="457200" y="2761488"/>
              <a:ext cx="1463040" cy="384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B300"/>
                </a:buClr>
                <a:buSzPts val="1000"/>
                <a:buFont typeface="Arial"/>
                <a:buNone/>
              </a:pPr>
              <a:r>
                <a:rPr b="1" lang="en-US" sz="1000">
                  <a:solidFill>
                    <a:srgbClr val="FFB300"/>
                  </a:solidFill>
                  <a:latin typeface="Arial"/>
                  <a:ea typeface="Arial"/>
                  <a:cs typeface="Arial"/>
                  <a:sym typeface="Arial"/>
                </a:rPr>
                <a:t>Datos de Entrada: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" name="Google Shape;401;p13"/>
            <p:cNvSpPr/>
            <p:nvPr/>
          </p:nvSpPr>
          <p:spPr>
            <a:xfrm>
              <a:off x="1920240" y="2761488"/>
              <a:ext cx="2286000" cy="384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Valores ingresados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402;p13"/>
            <p:cNvSpPr/>
            <p:nvPr/>
          </p:nvSpPr>
          <p:spPr>
            <a:xfrm>
              <a:off x="365760" y="3182112"/>
              <a:ext cx="3931920" cy="384048"/>
            </a:xfrm>
            <a:prstGeom prst="rect">
              <a:avLst/>
            </a:prstGeom>
            <a:solidFill>
              <a:srgbClr val="1F2E4A"/>
            </a:solidFill>
            <a:ln cap="flat" cmpd="sng" w="9525">
              <a:solidFill>
                <a:srgbClr val="0288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13"/>
            <p:cNvSpPr/>
            <p:nvPr/>
          </p:nvSpPr>
          <p:spPr>
            <a:xfrm>
              <a:off x="457200" y="3182112"/>
              <a:ext cx="1463040" cy="384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B300"/>
                </a:buClr>
                <a:buSzPts val="1000"/>
                <a:buFont typeface="Arial"/>
                <a:buNone/>
              </a:pPr>
              <a:r>
                <a:rPr b="1" lang="en-US" sz="1000">
                  <a:solidFill>
                    <a:srgbClr val="FFB300"/>
                  </a:solidFill>
                  <a:latin typeface="Arial"/>
                  <a:ea typeface="Arial"/>
                  <a:cs typeface="Arial"/>
                  <a:sym typeface="Arial"/>
                </a:rPr>
                <a:t>Resultado Esperado: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13"/>
            <p:cNvSpPr/>
            <p:nvPr/>
          </p:nvSpPr>
          <p:spPr>
            <a:xfrm>
              <a:off x="1920240" y="3182112"/>
              <a:ext cx="2286000" cy="384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Comportamiento esperado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13"/>
            <p:cNvSpPr/>
            <p:nvPr/>
          </p:nvSpPr>
          <p:spPr>
            <a:xfrm>
              <a:off x="365760" y="3602736"/>
              <a:ext cx="3931920" cy="384048"/>
            </a:xfrm>
            <a:prstGeom prst="rect">
              <a:avLst/>
            </a:prstGeom>
            <a:solidFill>
              <a:srgbClr val="1A2744"/>
            </a:solidFill>
            <a:ln cap="flat" cmpd="sng" w="9525">
              <a:solidFill>
                <a:srgbClr val="0288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13"/>
            <p:cNvSpPr/>
            <p:nvPr/>
          </p:nvSpPr>
          <p:spPr>
            <a:xfrm>
              <a:off x="457200" y="3602736"/>
              <a:ext cx="1463040" cy="384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B300"/>
                </a:buClr>
                <a:buSzPts val="1000"/>
                <a:buFont typeface="Arial"/>
                <a:buNone/>
              </a:pPr>
              <a:r>
                <a:rPr b="1" lang="en-US" sz="1000">
                  <a:solidFill>
                    <a:srgbClr val="FFB300"/>
                  </a:solidFill>
                  <a:latin typeface="Arial"/>
                  <a:ea typeface="Arial"/>
                  <a:cs typeface="Arial"/>
                  <a:sym typeface="Arial"/>
                </a:rPr>
                <a:t>Resultado Obtenido: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p13"/>
            <p:cNvSpPr/>
            <p:nvPr/>
          </p:nvSpPr>
          <p:spPr>
            <a:xfrm>
              <a:off x="1920240" y="3602736"/>
              <a:ext cx="2286000" cy="384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Respuesta real del sistema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408;p13"/>
            <p:cNvSpPr/>
            <p:nvPr/>
          </p:nvSpPr>
          <p:spPr>
            <a:xfrm>
              <a:off x="365760" y="4023360"/>
              <a:ext cx="3931920" cy="384048"/>
            </a:xfrm>
            <a:prstGeom prst="rect">
              <a:avLst/>
            </a:prstGeom>
            <a:solidFill>
              <a:srgbClr val="1F2E4A"/>
            </a:solidFill>
            <a:ln cap="flat" cmpd="sng" w="9525">
              <a:solidFill>
                <a:srgbClr val="0288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13"/>
            <p:cNvSpPr/>
            <p:nvPr/>
          </p:nvSpPr>
          <p:spPr>
            <a:xfrm>
              <a:off x="457200" y="4023360"/>
              <a:ext cx="1463040" cy="384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B300"/>
                </a:buClr>
                <a:buSzPts val="1000"/>
                <a:buFont typeface="Arial"/>
                <a:buNone/>
              </a:pPr>
              <a:r>
                <a:rPr b="1" lang="en-US" sz="1000">
                  <a:solidFill>
                    <a:srgbClr val="FFB300"/>
                  </a:solidFill>
                  <a:latin typeface="Arial"/>
                  <a:ea typeface="Arial"/>
                  <a:cs typeface="Arial"/>
                  <a:sym typeface="Arial"/>
                </a:rPr>
                <a:t>Estado: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13"/>
            <p:cNvSpPr/>
            <p:nvPr/>
          </p:nvSpPr>
          <p:spPr>
            <a:xfrm>
              <a:off x="1920240" y="4023360"/>
              <a:ext cx="2286000" cy="384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APROBADA / RECHAZADA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13"/>
            <p:cNvSpPr/>
            <p:nvPr/>
          </p:nvSpPr>
          <p:spPr>
            <a:xfrm>
              <a:off x="365760" y="4443984"/>
              <a:ext cx="3931920" cy="384048"/>
            </a:xfrm>
            <a:prstGeom prst="rect">
              <a:avLst/>
            </a:prstGeom>
            <a:solidFill>
              <a:srgbClr val="1A2744"/>
            </a:solidFill>
            <a:ln cap="flat" cmpd="sng" w="9525">
              <a:solidFill>
                <a:srgbClr val="0288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13"/>
            <p:cNvSpPr/>
            <p:nvPr/>
          </p:nvSpPr>
          <p:spPr>
            <a:xfrm>
              <a:off x="457200" y="4443984"/>
              <a:ext cx="1463040" cy="384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B300"/>
                </a:buClr>
                <a:buSzPts val="1000"/>
                <a:buFont typeface="Arial"/>
                <a:buNone/>
              </a:pPr>
              <a:r>
                <a:rPr b="1" lang="en-US" sz="1000">
                  <a:solidFill>
                    <a:srgbClr val="FFB300"/>
                  </a:solidFill>
                  <a:latin typeface="Arial"/>
                  <a:ea typeface="Arial"/>
                  <a:cs typeface="Arial"/>
                  <a:sym typeface="Arial"/>
                </a:rPr>
                <a:t>Evidencia: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13"/>
            <p:cNvSpPr/>
            <p:nvPr/>
          </p:nvSpPr>
          <p:spPr>
            <a:xfrm>
              <a:off x="1920240" y="4443984"/>
              <a:ext cx="2286000" cy="384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Captura de pantalla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4" name="Google Shape;414;p13"/>
          <p:cNvGrpSpPr/>
          <p:nvPr/>
        </p:nvGrpSpPr>
        <p:grpSpPr>
          <a:xfrm>
            <a:off x="4557668" y="1133856"/>
            <a:ext cx="4477610" cy="5504688"/>
            <a:chOff x="4561308" y="1417320"/>
            <a:chExt cx="4206240" cy="3749040"/>
          </a:xfrm>
        </p:grpSpPr>
        <p:sp>
          <p:nvSpPr>
            <p:cNvPr id="415" name="Google Shape;415;p13"/>
            <p:cNvSpPr/>
            <p:nvPr/>
          </p:nvSpPr>
          <p:spPr>
            <a:xfrm>
              <a:off x="4617720" y="1417320"/>
              <a:ext cx="4114800" cy="3749040"/>
            </a:xfrm>
            <a:prstGeom prst="roundRect">
              <a:avLst>
                <a:gd fmla="val 3158" name="adj"/>
              </a:avLst>
            </a:prstGeom>
            <a:solidFill>
              <a:srgbClr val="1A2744"/>
            </a:solidFill>
            <a:ln cap="flat" cmpd="sng" w="12700">
              <a:solidFill>
                <a:srgbClr val="0288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13"/>
            <p:cNvSpPr/>
            <p:nvPr/>
          </p:nvSpPr>
          <p:spPr>
            <a:xfrm>
              <a:off x="4561308" y="1417320"/>
              <a:ext cx="42062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B300"/>
                </a:buClr>
                <a:buSzPts val="1100"/>
                <a:buFont typeface="Arial"/>
                <a:buNone/>
              </a:pPr>
              <a:r>
                <a:rPr b="1" lang="en-US" sz="1100">
                  <a:solidFill>
                    <a:srgbClr val="FFB300"/>
                  </a:solidFill>
                  <a:latin typeface="Arial"/>
                  <a:ea typeface="Arial"/>
                  <a:cs typeface="Arial"/>
                  <a:sym typeface="Arial"/>
                </a:rPr>
                <a:t>CU PRIORITARIOS EN PRUEBAS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17" name="Google Shape;417;p13"/>
            <p:cNvGrpSpPr/>
            <p:nvPr/>
          </p:nvGrpSpPr>
          <p:grpSpPr>
            <a:xfrm>
              <a:off x="4663440" y="1828800"/>
              <a:ext cx="3959352" cy="3200400"/>
              <a:chOff x="4663440" y="1828800"/>
              <a:chExt cx="4206240" cy="3200400"/>
            </a:xfrm>
          </p:grpSpPr>
          <p:sp>
            <p:nvSpPr>
              <p:cNvPr id="418" name="Google Shape;418;p13"/>
              <p:cNvSpPr/>
              <p:nvPr/>
            </p:nvSpPr>
            <p:spPr>
              <a:xfrm>
                <a:off x="4663440" y="1828800"/>
                <a:ext cx="4206240" cy="566928"/>
              </a:xfrm>
              <a:prstGeom prst="roundRect">
                <a:avLst>
                  <a:gd fmla="val 12903" name="adj"/>
                </a:avLst>
              </a:prstGeom>
              <a:solidFill>
                <a:srgbClr val="1A2744"/>
              </a:solidFill>
              <a:ln cap="flat" cmpd="sng" w="10150">
                <a:solidFill>
                  <a:srgbClr val="0288D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" name="Google Shape;419;p13"/>
              <p:cNvSpPr/>
              <p:nvPr/>
            </p:nvSpPr>
            <p:spPr>
              <a:xfrm>
                <a:off x="4754880" y="1828800"/>
                <a:ext cx="640080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B300"/>
                  </a:buClr>
                  <a:buSzPts val="1300"/>
                  <a:buFont typeface="Arial"/>
                  <a:buNone/>
                </a:pPr>
                <a:r>
                  <a:rPr b="1" lang="en-US" sz="1300">
                    <a:solidFill>
                      <a:srgbClr val="FFB300"/>
                    </a:solidFill>
                    <a:latin typeface="Arial"/>
                    <a:ea typeface="Arial"/>
                    <a:cs typeface="Arial"/>
                    <a:sym typeface="Arial"/>
                  </a:rPr>
                  <a:t>CU 24</a:t>
                </a:r>
                <a:endParaRPr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" name="Google Shape;420;p13"/>
              <p:cNvSpPr/>
              <p:nvPr/>
            </p:nvSpPr>
            <p:spPr>
              <a:xfrm>
                <a:off x="5440680" y="1874520"/>
                <a:ext cx="3291840" cy="2560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50"/>
                  <a:buFont typeface="Arial"/>
                  <a:buNone/>
                </a:pPr>
                <a:r>
                  <a:rPr b="1" lang="en-US" sz="105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Firma digital EPP</a:t>
                </a: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" name="Google Shape;421;p13"/>
              <p:cNvSpPr/>
              <p:nvPr/>
            </p:nvSpPr>
            <p:spPr>
              <a:xfrm>
                <a:off x="5440680" y="2130552"/>
                <a:ext cx="329184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E3F2FD"/>
                  </a:buClr>
                  <a:buSzPts val="950"/>
                  <a:buFont typeface="Arial"/>
                  <a:buNone/>
                </a:pPr>
                <a:r>
                  <a:rPr i="1" lang="en-US" sz="950">
                    <a:solidFill>
                      <a:srgbClr val="E3F2FD"/>
                    </a:solidFill>
                    <a:latin typeface="Arial"/>
                    <a:ea typeface="Arial"/>
                    <a:cs typeface="Arial"/>
                    <a:sym typeface="Arial"/>
                  </a:rPr>
                  <a:t>Signature Canvas</a:t>
                </a:r>
                <a:endParaRPr sz="9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" name="Google Shape;422;p13"/>
              <p:cNvSpPr/>
              <p:nvPr/>
            </p:nvSpPr>
            <p:spPr>
              <a:xfrm>
                <a:off x="4663440" y="2487168"/>
                <a:ext cx="4206240" cy="566928"/>
              </a:xfrm>
              <a:prstGeom prst="roundRect">
                <a:avLst>
                  <a:gd fmla="val 12903" name="adj"/>
                </a:avLst>
              </a:prstGeom>
              <a:solidFill>
                <a:srgbClr val="1A2744"/>
              </a:solidFill>
              <a:ln cap="flat" cmpd="sng" w="10150">
                <a:solidFill>
                  <a:srgbClr val="0288D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13"/>
              <p:cNvSpPr/>
              <p:nvPr/>
            </p:nvSpPr>
            <p:spPr>
              <a:xfrm>
                <a:off x="4754880" y="2487168"/>
                <a:ext cx="640080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B300"/>
                  </a:buClr>
                  <a:buSzPts val="1300"/>
                  <a:buFont typeface="Arial"/>
                  <a:buNone/>
                </a:pPr>
                <a:r>
                  <a:rPr b="1" lang="en-US" sz="1300">
                    <a:solidFill>
                      <a:srgbClr val="FFB300"/>
                    </a:solidFill>
                    <a:latin typeface="Arial"/>
                    <a:ea typeface="Arial"/>
                    <a:cs typeface="Arial"/>
                    <a:sym typeface="Arial"/>
                  </a:rPr>
                  <a:t>CU 28</a:t>
                </a:r>
                <a:endParaRPr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" name="Google Shape;424;p13"/>
              <p:cNvSpPr/>
              <p:nvPr/>
            </p:nvSpPr>
            <p:spPr>
              <a:xfrm>
                <a:off x="5440680" y="2532888"/>
                <a:ext cx="3291840" cy="2560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50"/>
                  <a:buFont typeface="Arial"/>
                  <a:buNone/>
                </a:pPr>
                <a:r>
                  <a:rPr b="1" lang="en-US" sz="105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Validación materiales</a:t>
                </a: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" name="Google Shape;425;p13"/>
              <p:cNvSpPr/>
              <p:nvPr/>
            </p:nvSpPr>
            <p:spPr>
              <a:xfrm>
                <a:off x="5440680" y="2788920"/>
                <a:ext cx="329184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E3F2FD"/>
                  </a:buClr>
                  <a:buSzPts val="950"/>
                  <a:buFont typeface="Arial"/>
                  <a:buNone/>
                </a:pPr>
                <a:r>
                  <a:rPr i="1" lang="en-US" sz="950">
                    <a:solidFill>
                      <a:srgbClr val="E3F2FD"/>
                    </a:solidFill>
                    <a:latin typeface="Arial"/>
                    <a:ea typeface="Arial"/>
                    <a:cs typeface="Arial"/>
                    <a:sym typeface="Arial"/>
                  </a:rPr>
                  <a:t>OC automática</a:t>
                </a:r>
                <a:endParaRPr sz="9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" name="Google Shape;426;p13"/>
              <p:cNvSpPr/>
              <p:nvPr/>
            </p:nvSpPr>
            <p:spPr>
              <a:xfrm>
                <a:off x="4663440" y="3145536"/>
                <a:ext cx="4206240" cy="566928"/>
              </a:xfrm>
              <a:prstGeom prst="roundRect">
                <a:avLst>
                  <a:gd fmla="val 12903" name="adj"/>
                </a:avLst>
              </a:prstGeom>
              <a:solidFill>
                <a:srgbClr val="1A2744"/>
              </a:solidFill>
              <a:ln cap="flat" cmpd="sng" w="10150">
                <a:solidFill>
                  <a:srgbClr val="0288D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" name="Google Shape;427;p13"/>
              <p:cNvSpPr/>
              <p:nvPr/>
            </p:nvSpPr>
            <p:spPr>
              <a:xfrm>
                <a:off x="4754880" y="3145536"/>
                <a:ext cx="640080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B300"/>
                  </a:buClr>
                  <a:buSzPts val="1300"/>
                  <a:buFont typeface="Arial"/>
                  <a:buNone/>
                </a:pPr>
                <a:r>
                  <a:rPr b="1" lang="en-US" sz="1300">
                    <a:solidFill>
                      <a:srgbClr val="FFB300"/>
                    </a:solidFill>
                    <a:latin typeface="Arial"/>
                    <a:ea typeface="Arial"/>
                    <a:cs typeface="Arial"/>
                    <a:sym typeface="Arial"/>
                  </a:rPr>
                  <a:t>CU 29</a:t>
                </a:r>
                <a:endParaRPr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" name="Google Shape;428;p13"/>
              <p:cNvSpPr/>
              <p:nvPr/>
            </p:nvSpPr>
            <p:spPr>
              <a:xfrm>
                <a:off x="5440680" y="3191256"/>
                <a:ext cx="3291840" cy="2560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50"/>
                  <a:buFont typeface="Arial"/>
                  <a:buNone/>
                </a:pPr>
                <a:r>
                  <a:rPr b="1" lang="en-US" sz="105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Trazabilidad herramientas</a:t>
                </a: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" name="Google Shape;429;p13"/>
              <p:cNvSpPr/>
              <p:nvPr/>
            </p:nvSpPr>
            <p:spPr>
              <a:xfrm>
                <a:off x="5440680" y="3447288"/>
                <a:ext cx="329184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E3F2FD"/>
                  </a:buClr>
                  <a:buSzPts val="950"/>
                  <a:buFont typeface="Arial"/>
                  <a:buNone/>
                </a:pPr>
                <a:r>
                  <a:rPr i="1" lang="en-US" sz="950">
                    <a:solidFill>
                      <a:srgbClr val="E3F2FD"/>
                    </a:solidFill>
                    <a:latin typeface="Arial"/>
                    <a:ea typeface="Arial"/>
                    <a:cs typeface="Arial"/>
                    <a:sym typeface="Arial"/>
                  </a:rPr>
                  <a:t>Control por RUT</a:t>
                </a:r>
                <a:endParaRPr sz="9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" name="Google Shape;430;p13"/>
              <p:cNvSpPr/>
              <p:nvPr/>
            </p:nvSpPr>
            <p:spPr>
              <a:xfrm>
                <a:off x="4663440" y="3803904"/>
                <a:ext cx="4206240" cy="566928"/>
              </a:xfrm>
              <a:prstGeom prst="roundRect">
                <a:avLst>
                  <a:gd fmla="val 12903" name="adj"/>
                </a:avLst>
              </a:prstGeom>
              <a:solidFill>
                <a:srgbClr val="1A2744"/>
              </a:solidFill>
              <a:ln cap="flat" cmpd="sng" w="10150">
                <a:solidFill>
                  <a:srgbClr val="0288D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" name="Google Shape;431;p13"/>
              <p:cNvSpPr/>
              <p:nvPr/>
            </p:nvSpPr>
            <p:spPr>
              <a:xfrm>
                <a:off x="4754880" y="3803904"/>
                <a:ext cx="640080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B300"/>
                  </a:buClr>
                  <a:buSzPts val="1300"/>
                  <a:buFont typeface="Arial"/>
                  <a:buNone/>
                </a:pPr>
                <a:r>
                  <a:rPr b="1" lang="en-US" sz="1300">
                    <a:solidFill>
                      <a:srgbClr val="FFB300"/>
                    </a:solidFill>
                    <a:latin typeface="Arial"/>
                    <a:ea typeface="Arial"/>
                    <a:cs typeface="Arial"/>
                    <a:sym typeface="Arial"/>
                  </a:rPr>
                  <a:t>CU 22</a:t>
                </a:r>
                <a:endParaRPr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" name="Google Shape;432;p13"/>
              <p:cNvSpPr/>
              <p:nvPr/>
            </p:nvSpPr>
            <p:spPr>
              <a:xfrm>
                <a:off x="5440680" y="3849624"/>
                <a:ext cx="3291840" cy="2560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50"/>
                  <a:buFont typeface="Arial"/>
                  <a:buNone/>
                </a:pPr>
                <a:r>
                  <a:rPr b="1" lang="en-US" sz="105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Entrega de EPP</a:t>
                </a: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" name="Google Shape;433;p13"/>
              <p:cNvSpPr/>
              <p:nvPr/>
            </p:nvSpPr>
            <p:spPr>
              <a:xfrm>
                <a:off x="5440680" y="4105656"/>
                <a:ext cx="329184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E3F2FD"/>
                  </a:buClr>
                  <a:buSzPts val="950"/>
                  <a:buFont typeface="Arial"/>
                  <a:buNone/>
                </a:pPr>
                <a:r>
                  <a:rPr i="1" lang="en-US" sz="950">
                    <a:solidFill>
                      <a:srgbClr val="E3F2FD"/>
                    </a:solidFill>
                    <a:latin typeface="Arial"/>
                    <a:ea typeface="Arial"/>
                    <a:cs typeface="Arial"/>
                    <a:sym typeface="Arial"/>
                  </a:rPr>
                  <a:t>Prevención de riesgos</a:t>
                </a:r>
                <a:endParaRPr sz="9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" name="Google Shape;434;p13"/>
              <p:cNvSpPr/>
              <p:nvPr/>
            </p:nvSpPr>
            <p:spPr>
              <a:xfrm>
                <a:off x="4663440" y="4462272"/>
                <a:ext cx="4206240" cy="566928"/>
              </a:xfrm>
              <a:prstGeom prst="roundRect">
                <a:avLst>
                  <a:gd fmla="val 12903" name="adj"/>
                </a:avLst>
              </a:prstGeom>
              <a:solidFill>
                <a:srgbClr val="1A2744"/>
              </a:solidFill>
              <a:ln cap="flat" cmpd="sng" w="10150">
                <a:solidFill>
                  <a:srgbClr val="0288D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" name="Google Shape;435;p13"/>
              <p:cNvSpPr/>
              <p:nvPr/>
            </p:nvSpPr>
            <p:spPr>
              <a:xfrm>
                <a:off x="4754880" y="4462272"/>
                <a:ext cx="640080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B300"/>
                  </a:buClr>
                  <a:buSzPts val="1300"/>
                  <a:buFont typeface="Arial"/>
                  <a:buNone/>
                </a:pPr>
                <a:r>
                  <a:rPr b="1" lang="en-US" sz="1300">
                    <a:solidFill>
                      <a:srgbClr val="FFB300"/>
                    </a:solidFill>
                    <a:latin typeface="Arial"/>
                    <a:ea typeface="Arial"/>
                    <a:cs typeface="Arial"/>
                    <a:sym typeface="Arial"/>
                  </a:rPr>
                  <a:t>CU 30</a:t>
                </a:r>
                <a:endParaRPr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" name="Google Shape;436;p13"/>
              <p:cNvSpPr/>
              <p:nvPr/>
            </p:nvSpPr>
            <p:spPr>
              <a:xfrm>
                <a:off x="5440680" y="4507992"/>
                <a:ext cx="3291840" cy="2560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50"/>
                  <a:buFont typeface="Arial"/>
                  <a:buNone/>
                </a:pPr>
                <a:r>
                  <a:rPr b="1" lang="en-US" sz="105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Ingreso guía despacho</a:t>
                </a: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" name="Google Shape;437;p13"/>
              <p:cNvSpPr/>
              <p:nvPr/>
            </p:nvSpPr>
            <p:spPr>
              <a:xfrm>
                <a:off x="5440680" y="4764024"/>
                <a:ext cx="329184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E3F2FD"/>
                  </a:buClr>
                  <a:buSzPts val="950"/>
                  <a:buFont typeface="Arial"/>
                  <a:buNone/>
                </a:pPr>
                <a:r>
                  <a:rPr i="1" lang="en-US" sz="950">
                    <a:solidFill>
                      <a:srgbClr val="E3F2FD"/>
                    </a:solidFill>
                    <a:latin typeface="Arial"/>
                    <a:ea typeface="Arial"/>
                    <a:cs typeface="Arial"/>
                    <a:sym typeface="Arial"/>
                  </a:rPr>
                  <a:t>Control de inventario</a:t>
                </a:r>
                <a:endParaRPr sz="9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3" name="Google Shape;443;p14"/>
          <p:cNvPicPr preferRelativeResize="0"/>
          <p:nvPr/>
        </p:nvPicPr>
        <p:blipFill rotWithShape="1">
          <a:blip r:embed="rId3">
            <a:alphaModFix/>
          </a:blip>
          <a:srcRect b="51651" l="-153" r="153" t="20538"/>
          <a:stretch/>
        </p:blipFill>
        <p:spPr>
          <a:xfrm>
            <a:off x="-14013" y="1"/>
            <a:ext cx="9172026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5" name="Google Shape;44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86200" y="2029969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14"/>
          <p:cNvSpPr/>
          <p:nvPr/>
        </p:nvSpPr>
        <p:spPr>
          <a:xfrm>
            <a:off x="446051" y="3585021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SEGUNDO INCREMENTO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4"/>
          <p:cNvSpPr/>
          <p:nvPr/>
        </p:nvSpPr>
        <p:spPr>
          <a:xfrm>
            <a:off x="457200" y="4063222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70% COMPLETADO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4"/>
          <p:cNvSpPr/>
          <p:nvPr/>
        </p:nvSpPr>
        <p:spPr>
          <a:xfrm>
            <a:off x="446051" y="4770023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i="1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 Casos de Uso  ·  176 HH  ·  5 Módulos  ·  Sistema ERP ATI Termic SpA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g3ed81901e6f_2_15"/>
          <p:cNvPicPr preferRelativeResize="0"/>
          <p:nvPr/>
        </p:nvPicPr>
        <p:blipFill rotWithShape="1">
          <a:blip r:embed="rId3">
            <a:alphaModFix/>
          </a:blip>
          <a:srcRect b="51651" l="-150" r="150" t="20538"/>
          <a:stretch/>
        </p:blipFill>
        <p:spPr>
          <a:xfrm>
            <a:off x="-14013" y="1"/>
            <a:ext cx="9172027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g3ed81901e6f_2_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g3ed81901e6f_2_15"/>
          <p:cNvSpPr/>
          <p:nvPr/>
        </p:nvSpPr>
        <p:spPr>
          <a:xfrm>
            <a:off x="457200" y="1667622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US" sz="4000">
                <a:solidFill>
                  <a:schemeClr val="dk1"/>
                </a:solidFill>
              </a:rPr>
              <a:t>A continuación…</a:t>
            </a:r>
            <a:endParaRPr b="1" sz="40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US" sz="4000">
                <a:solidFill>
                  <a:schemeClr val="dk1"/>
                </a:solidFill>
              </a:rPr>
              <a:t>¡Presentación DEMO!</a:t>
            </a:r>
            <a:endParaRPr b="1" sz="4000">
              <a:solidFill>
                <a:schemeClr val="dk1"/>
              </a:solidFill>
            </a:endParaRPr>
          </a:p>
        </p:txBody>
      </p:sp>
      <p:pic>
        <p:nvPicPr>
          <p:cNvPr id="457" name="Google Shape;457;g3ed81901e6f_2_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5550" y="2883528"/>
            <a:ext cx="8612901" cy="304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5"/>
          <p:cNvPicPr preferRelativeResize="0"/>
          <p:nvPr/>
        </p:nvPicPr>
        <p:blipFill rotWithShape="1">
          <a:blip r:embed="rId3">
            <a:alphaModFix/>
          </a:blip>
          <a:srcRect b="51651" l="-153" r="153" t="20538"/>
          <a:stretch/>
        </p:blipFill>
        <p:spPr>
          <a:xfrm>
            <a:off x="-14013" y="1"/>
            <a:ext cx="9172026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5"/>
          <p:cNvSpPr txBox="1"/>
          <p:nvPr/>
        </p:nvSpPr>
        <p:spPr>
          <a:xfrm>
            <a:off x="108721" y="122611"/>
            <a:ext cx="8207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1" lang="en-US" sz="2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 24: Firmando Digitalmente Documentos</a:t>
            </a:r>
            <a:endParaRPr b="1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9" name="Google Shape;239;p5"/>
          <p:cNvSpPr/>
          <p:nvPr/>
        </p:nvSpPr>
        <p:spPr>
          <a:xfrm>
            <a:off x="274320" y="1143000"/>
            <a:ext cx="3931920" cy="731520"/>
          </a:xfrm>
          <a:prstGeom prst="roundRect">
            <a:avLst>
              <a:gd fmla="val 12500" name="adj"/>
            </a:avLst>
          </a:prstGeom>
          <a:solidFill>
            <a:srgbClr val="1A2744"/>
          </a:solidFill>
          <a:ln cap="flat" cmpd="sng" w="19050">
            <a:solidFill>
              <a:srgbClr val="FFB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0" name="Google Shape;24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920" y="126187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5"/>
          <p:cNvSpPr/>
          <p:nvPr/>
        </p:nvSpPr>
        <p:spPr>
          <a:xfrm>
            <a:off x="1005840" y="118872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¿Por qué es Destacado en nuestro ERP?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5"/>
          <p:cNvSpPr/>
          <p:nvPr/>
        </p:nvSpPr>
        <p:spPr>
          <a:xfrm>
            <a:off x="1005840" y="150876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Firma táctil en pantalla y sello de fecha/hora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5"/>
          <p:cNvSpPr/>
          <p:nvPr/>
        </p:nvSpPr>
        <p:spPr>
          <a:xfrm>
            <a:off x="274320" y="201168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8D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0288D1"/>
                </a:solidFill>
                <a:latin typeface="Arial"/>
                <a:ea typeface="Arial"/>
                <a:cs typeface="Arial"/>
                <a:sym typeface="Arial"/>
              </a:rPr>
              <a:t>FLUJO PRINCIPAL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5"/>
          <p:cNvSpPr/>
          <p:nvPr/>
        </p:nvSpPr>
        <p:spPr>
          <a:xfrm>
            <a:off x="4389120" y="1143000"/>
            <a:ext cx="4480560" cy="1161288"/>
          </a:xfrm>
          <a:prstGeom prst="roundRect">
            <a:avLst>
              <a:gd fmla="val 6250" name="adj"/>
            </a:avLst>
          </a:prstGeom>
          <a:solidFill>
            <a:srgbClr val="1A2744"/>
          </a:solidFill>
          <a:ln cap="flat" cmpd="sng" w="12700">
            <a:solidFill>
              <a:srgbClr val="0288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5"/>
          <p:cNvSpPr/>
          <p:nvPr/>
        </p:nvSpPr>
        <p:spPr>
          <a:xfrm>
            <a:off x="4526280" y="1207008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8D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0288D1"/>
                </a:solidFill>
                <a:latin typeface="Arial"/>
                <a:ea typeface="Arial"/>
                <a:cs typeface="Arial"/>
                <a:sym typeface="Arial"/>
              </a:rPr>
              <a:t>DETALLES TÉCNICOS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5"/>
          <p:cNvSpPr/>
          <p:nvPr/>
        </p:nvSpPr>
        <p:spPr>
          <a:xfrm>
            <a:off x="4526280" y="1347677"/>
            <a:ext cx="4206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Actor:</a:t>
            </a:r>
            <a:r>
              <a:rPr lang="en-US" sz="105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  Administrador Total / Supervisor de Obra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Dependencia:</a:t>
            </a:r>
            <a:r>
              <a:rPr lang="en-US" sz="105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  UR-F-24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Tecnología:</a:t>
            </a:r>
            <a:r>
              <a:rPr lang="en-US" sz="105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  React Signature Canvas + Express + MySQL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Frecuencia:</a:t>
            </a:r>
            <a:r>
              <a:rPr lang="en-US" sz="105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  En cada entrega de EPP a un trabajador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5"/>
          <p:cNvSpPr/>
          <p:nvPr/>
        </p:nvSpPr>
        <p:spPr>
          <a:xfrm>
            <a:off x="4389120" y="2444957"/>
            <a:ext cx="4480560" cy="1280160"/>
          </a:xfrm>
          <a:prstGeom prst="roundRect">
            <a:avLst>
              <a:gd fmla="val 7143" name="adj"/>
            </a:avLst>
          </a:prstGeom>
          <a:solidFill>
            <a:srgbClr val="1A2744"/>
          </a:solidFill>
          <a:ln cap="flat" cmpd="sng" w="12700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8" name="Google Shape;248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26280" y="2518109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5"/>
          <p:cNvSpPr/>
          <p:nvPr/>
        </p:nvSpPr>
        <p:spPr>
          <a:xfrm>
            <a:off x="4937760" y="2518109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E53935"/>
                </a:solidFill>
                <a:latin typeface="Arial"/>
                <a:ea typeface="Arial"/>
                <a:cs typeface="Arial"/>
                <a:sym typeface="Arial"/>
              </a:rPr>
              <a:t>EXCEPCIONES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5"/>
          <p:cNvSpPr/>
          <p:nvPr/>
        </p:nvSpPr>
        <p:spPr>
          <a:xfrm>
            <a:off x="4526280" y="2902157"/>
            <a:ext cx="4206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Firma vacía: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El sistema detecta que no hay trazos y no valida.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Entrega ya validada: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El sistema informa y no reemplaza la firma.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5"/>
          <p:cNvSpPr/>
          <p:nvPr/>
        </p:nvSpPr>
        <p:spPr>
          <a:xfrm>
            <a:off x="4389120" y="3865786"/>
            <a:ext cx="4480560" cy="777240"/>
          </a:xfrm>
          <a:prstGeom prst="roundRect">
            <a:avLst>
              <a:gd fmla="val 11765" name="adj"/>
            </a:avLst>
          </a:prstGeom>
          <a:solidFill>
            <a:srgbClr val="1B5E20">
              <a:alpha val="90196"/>
            </a:srgbClr>
          </a:solidFill>
          <a:ln cap="flat" cmpd="sng" w="12700">
            <a:solidFill>
              <a:srgbClr val="66BB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5"/>
          <p:cNvSpPr/>
          <p:nvPr/>
        </p:nvSpPr>
        <p:spPr>
          <a:xfrm>
            <a:off x="4526280" y="3938938"/>
            <a:ext cx="4206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POSTCONDICIÓN: Lote en estado “Validado” con la imagen de la firma y su sello de fecha y hora, listo para el comprobante.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3" name="Google Shape;253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1460" y="5012733"/>
            <a:ext cx="3977640" cy="1404534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5"/>
          <p:cNvSpPr/>
          <p:nvPr/>
        </p:nvSpPr>
        <p:spPr>
          <a:xfrm>
            <a:off x="274320" y="2304288"/>
            <a:ext cx="4023360" cy="329184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5"/>
          <p:cNvSpPr/>
          <p:nvPr/>
        </p:nvSpPr>
        <p:spPr>
          <a:xfrm>
            <a:off x="365760" y="2304288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1. Actor abre “Historial de Entregas de EPP”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5"/>
          <p:cNvSpPr/>
          <p:nvPr/>
        </p:nvSpPr>
        <p:spPr>
          <a:xfrm>
            <a:off x="274320" y="2670048"/>
            <a:ext cx="4023360" cy="329184"/>
          </a:xfrm>
          <a:prstGeom prst="roundRect">
            <a:avLst>
              <a:gd fmla="val 11111" name="adj"/>
            </a:avLst>
          </a:prstGeom>
          <a:solidFill>
            <a:srgbClr val="E3F2FD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5"/>
          <p:cNvSpPr/>
          <p:nvPr/>
        </p:nvSpPr>
        <p:spPr>
          <a:xfrm>
            <a:off x="365760" y="2670048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2. Actor ubica el lote y presiona “Finalizar y Validar”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5"/>
          <p:cNvSpPr/>
          <p:nvPr/>
        </p:nvSpPr>
        <p:spPr>
          <a:xfrm>
            <a:off x="274320" y="3035808"/>
            <a:ext cx="4023360" cy="329184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5"/>
          <p:cNvSpPr/>
          <p:nvPr/>
        </p:nvSpPr>
        <p:spPr>
          <a:xfrm>
            <a:off x="365760" y="3035808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3. Sistema despliega el panel de firma del receptor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5"/>
          <p:cNvSpPr/>
          <p:nvPr/>
        </p:nvSpPr>
        <p:spPr>
          <a:xfrm>
            <a:off x="274320" y="3401568"/>
            <a:ext cx="4023360" cy="329184"/>
          </a:xfrm>
          <a:prstGeom prst="roundRect">
            <a:avLst>
              <a:gd fmla="val 11111" name="adj"/>
            </a:avLst>
          </a:prstGeom>
          <a:solidFill>
            <a:srgbClr val="E3F2FD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5"/>
          <p:cNvSpPr/>
          <p:nvPr/>
        </p:nvSpPr>
        <p:spPr>
          <a:xfrm>
            <a:off x="365760" y="3401568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4. Receptor firma y el sistema captura el trazo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5"/>
          <p:cNvSpPr/>
          <p:nvPr/>
        </p:nvSpPr>
        <p:spPr>
          <a:xfrm>
            <a:off x="274320" y="3767328"/>
            <a:ext cx="4023360" cy="329184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5"/>
          <p:cNvSpPr/>
          <p:nvPr/>
        </p:nvSpPr>
        <p:spPr>
          <a:xfrm>
            <a:off x="365760" y="3767328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5. Actor puede limpiar el trazo y repetir la firma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5"/>
          <p:cNvSpPr/>
          <p:nvPr/>
        </p:nvSpPr>
        <p:spPr>
          <a:xfrm>
            <a:off x="274320" y="4133088"/>
            <a:ext cx="4023360" cy="329184"/>
          </a:xfrm>
          <a:prstGeom prst="roundRect">
            <a:avLst>
              <a:gd fmla="val 11111" name="adj"/>
            </a:avLst>
          </a:prstGeom>
          <a:solidFill>
            <a:srgbClr val="E3F2FD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5"/>
          <p:cNvSpPr/>
          <p:nvPr/>
        </p:nvSpPr>
        <p:spPr>
          <a:xfrm>
            <a:off x="365760" y="4133088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6. Sistema guarda la firma y marca el lote “Validado”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5"/>
          <p:cNvSpPr/>
          <p:nvPr/>
        </p:nvSpPr>
        <p:spPr>
          <a:xfrm>
            <a:off x="274320" y="4498848"/>
            <a:ext cx="4023360" cy="329184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5"/>
          <p:cNvSpPr/>
          <p:nvPr/>
        </p:nvSpPr>
        <p:spPr>
          <a:xfrm>
            <a:off x="365760" y="4498848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7. Sistema registra en el log y confirma la entrega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8" name="Google Shape;268;p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109032" y="4643025"/>
            <a:ext cx="3206991" cy="21379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2018-06-26T20:44:09Z</dcterms:created>
  <dc:creator>Usuario de Microsoft Office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0x01010023E636E5ADFFDD4593589394D25615CE</vt:lpwstr>
  </property>
</Properties>
</file>